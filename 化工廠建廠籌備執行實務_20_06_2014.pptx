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0"/>
  </p:notesMasterIdLst>
  <p:handoutMasterIdLst>
    <p:handoutMasterId r:id="rId61"/>
  </p:handoutMasterIdLst>
  <p:sldIdLst>
    <p:sldId id="256" r:id="rId3"/>
    <p:sldId id="303" r:id="rId4"/>
    <p:sldId id="322" r:id="rId5"/>
    <p:sldId id="257" r:id="rId6"/>
    <p:sldId id="313" r:id="rId7"/>
    <p:sldId id="258" r:id="rId8"/>
    <p:sldId id="285" r:id="rId9"/>
    <p:sldId id="314" r:id="rId10"/>
    <p:sldId id="284" r:id="rId11"/>
    <p:sldId id="281" r:id="rId12"/>
    <p:sldId id="259" r:id="rId13"/>
    <p:sldId id="323" r:id="rId14"/>
    <p:sldId id="263" r:id="rId15"/>
    <p:sldId id="312" r:id="rId16"/>
    <p:sldId id="262" r:id="rId17"/>
    <p:sldId id="260" r:id="rId18"/>
    <p:sldId id="261" r:id="rId19"/>
    <p:sldId id="264" r:id="rId20"/>
    <p:sldId id="265" r:id="rId21"/>
    <p:sldId id="275" r:id="rId22"/>
    <p:sldId id="283" r:id="rId23"/>
    <p:sldId id="266" r:id="rId24"/>
    <p:sldId id="267" r:id="rId25"/>
    <p:sldId id="268" r:id="rId26"/>
    <p:sldId id="273" r:id="rId27"/>
    <p:sldId id="274" r:id="rId28"/>
    <p:sldId id="269" r:id="rId29"/>
    <p:sldId id="270" r:id="rId30"/>
    <p:sldId id="310" r:id="rId31"/>
    <p:sldId id="291" r:id="rId32"/>
    <p:sldId id="324" r:id="rId33"/>
    <p:sldId id="286" r:id="rId34"/>
    <p:sldId id="271" r:id="rId35"/>
    <p:sldId id="294" r:id="rId36"/>
    <p:sldId id="307" r:id="rId37"/>
    <p:sldId id="295" r:id="rId38"/>
    <p:sldId id="326" r:id="rId39"/>
    <p:sldId id="327" r:id="rId40"/>
    <p:sldId id="325" r:id="rId41"/>
    <p:sldId id="296" r:id="rId42"/>
    <p:sldId id="297" r:id="rId43"/>
    <p:sldId id="287" r:id="rId44"/>
    <p:sldId id="272" r:id="rId45"/>
    <p:sldId id="280" r:id="rId46"/>
    <p:sldId id="282" r:id="rId47"/>
    <p:sldId id="292" r:id="rId48"/>
    <p:sldId id="293" r:id="rId49"/>
    <p:sldId id="298" r:id="rId50"/>
    <p:sldId id="304" r:id="rId51"/>
    <p:sldId id="319" r:id="rId52"/>
    <p:sldId id="320" r:id="rId53"/>
    <p:sldId id="321" r:id="rId54"/>
    <p:sldId id="289" r:id="rId55"/>
    <p:sldId id="301" r:id="rId56"/>
    <p:sldId id="316" r:id="rId57"/>
    <p:sldId id="315" r:id="rId58"/>
    <p:sldId id="306" r:id="rId59"/>
  </p:sldIdLst>
  <p:sldSz cx="9144000" cy="6858000" type="screen4x3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294" autoAdjust="0"/>
    <p:restoredTop sz="94660"/>
  </p:normalViewPr>
  <p:slideViewPr>
    <p:cSldViewPr>
      <p:cViewPr>
        <p:scale>
          <a:sx n="70" d="100"/>
          <a:sy n="70" d="100"/>
        </p:scale>
        <p:origin x="-1314" y="7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30" d="100"/>
        <a:sy n="130" d="100"/>
      </p:scale>
      <p:origin x="0" y="162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473" cy="4967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156" y="0"/>
            <a:ext cx="2949473" cy="49672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93C5E-2494-439B-9CB6-B82BA567CA77}" type="datetimeFigureOut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982"/>
            <a:ext cx="2949473" cy="496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156" y="9440982"/>
            <a:ext cx="2949473" cy="496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593DC-380F-4E30-809D-9663C285D40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8942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4476" tIns="47238" rIns="94476" bIns="47238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6967"/>
          </a:xfrm>
          <a:prstGeom prst="rect">
            <a:avLst/>
          </a:prstGeom>
        </p:spPr>
        <p:txBody>
          <a:bodyPr vert="horz" lIns="94476" tIns="47238" rIns="94476" bIns="47238" rtlCol="0"/>
          <a:lstStyle>
            <a:lvl1pPr algn="r">
              <a:defRPr sz="1200"/>
            </a:lvl1pPr>
          </a:lstStyle>
          <a:p>
            <a:fld id="{47DA83E9-2108-4C7B-BA82-8AE25805E150}" type="datetimeFigureOut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6" tIns="47238" rIns="94476" bIns="4723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7"/>
            <a:ext cx="5445760" cy="4472702"/>
          </a:xfrm>
          <a:prstGeom prst="rect">
            <a:avLst/>
          </a:prstGeom>
        </p:spPr>
        <p:txBody>
          <a:bodyPr vert="horz" lIns="94476" tIns="47238" rIns="94476" bIns="47238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4476" tIns="47238" rIns="94476" bIns="47238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6"/>
            <a:ext cx="2949787" cy="496967"/>
          </a:xfrm>
          <a:prstGeom prst="rect">
            <a:avLst/>
          </a:prstGeom>
        </p:spPr>
        <p:txBody>
          <a:bodyPr vert="horz" lIns="94476" tIns="47238" rIns="94476" bIns="47238" rtlCol="0" anchor="b"/>
          <a:lstStyle>
            <a:lvl1pPr algn="r">
              <a:defRPr sz="1200"/>
            </a:lvl1pPr>
          </a:lstStyle>
          <a:p>
            <a:fld id="{8763B3C3-F4FA-4D0E-B4CA-45799AE0E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9921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569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494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63B3C3-F4FA-4D0E-B4CA-45799AE0E56D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81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9E38-2DDF-41A8-AF06-46F71B971356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3EA9-6EB2-464E-BB7D-11139C4CBE85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BCC0-F1D4-4E80-8904-0116CA8E62D8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FD62-19F2-46A3-85FC-57CDA5F847CB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921-0089-4D74-B040-F86FA54730A6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08523-C158-4D13-AA2D-A06E06F468BC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A487-C4A4-4C44-9E48-FD74DA9036B5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99B26-C65C-483F-BAE3-373F7EE2ADA7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C241-EBB6-4131-A343-07542999449B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7487-A37E-4EEF-BC02-8974C64EA565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F7013-4320-457C-AD5A-B7047E4723D0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799D2-89FD-4536-90D4-04DEB9BEDB2B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47845-2DB7-4BE6-8E60-AA36391013C6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510D6-5E25-4814-8909-04565863EB91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08E03-5251-43CB-B3CC-89210F89D5C4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60B4-2577-4813-9358-D71C5855C73B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2615-17D2-4AD3-8134-677E0B4295BC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C4E5-15E2-4652-AB9A-759523B0E459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E3DB-7CC0-4CE8-BF31-0A88CF2A2D87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7884-3B59-4548-BF64-72769B9922AE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CF5A-5BDA-4331-ABCF-965C16BFC04E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D49F-F156-48BA-9418-68009812D9AD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95048-EAB8-415B-91B6-E996E5D270E3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4257A-BF74-4875-B728-EA3989B5B26A}" type="datetime1">
              <a:rPr lang="zh-TW" altLang="en-US" smtClean="0"/>
              <a:t>2014/6/19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FFE42-BAE3-4BEB-98FF-3C331F65AAD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&#23560;&#26696;&#21450;&#24037;&#31243;&#20445;&#38570;&#35336;&#30059;.xl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683568" y="2060848"/>
            <a:ext cx="7772400" cy="1470025"/>
          </a:xfrm>
        </p:spPr>
        <p:txBody>
          <a:bodyPr>
            <a:normAutofit/>
          </a:bodyPr>
          <a:lstStyle/>
          <a:p>
            <a:r>
              <a:rPr lang="zh-TW" altLang="en-US" sz="5400" b="1" dirty="0">
                <a:latin typeface="華康中楷體" panose="02010609000101010101" pitchFamily="49" charset="-120"/>
                <a:ea typeface="華康中楷體" panose="02010609000101010101" pitchFamily="49" charset="-120"/>
              </a:rPr>
              <a:t>化工廠建廠籌備執行實務</a:t>
            </a:r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sz="2800" dirty="0" smtClean="0">
                <a:latin typeface="華康中楷體" panose="02010609000101010101" pitchFamily="49" charset="-120"/>
                <a:ea typeface="華康中楷體" panose="02010609000101010101" pitchFamily="49" charset="-120"/>
              </a:rPr>
              <a:t>陳森路</a:t>
            </a:r>
            <a:endParaRPr lang="en-US" altLang="zh-TW" sz="2800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r>
              <a:rPr lang="zh-TW" altLang="en-US" sz="2800" dirty="0" smtClean="0">
                <a:latin typeface="華康中楷體" panose="02010609000101010101" pitchFamily="49" charset="-120"/>
                <a:ea typeface="華康中楷體" panose="02010609000101010101" pitchFamily="49" charset="-120"/>
              </a:rPr>
              <a:t>中鼎工程股份有限公司</a:t>
            </a:r>
            <a:endParaRPr lang="en-US" altLang="zh-TW" sz="2800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r>
              <a:rPr lang="en-US" altLang="zh-TW" sz="2000" dirty="0" smtClean="0"/>
              <a:t>2014/6/20</a:t>
            </a:r>
            <a:endParaRPr lang="zh-TW" altLang="en-US" sz="20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Project Life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406252" y="1700808"/>
            <a:ext cx="1224136" cy="5760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PDP</a:t>
            </a:r>
            <a:endParaRPr lang="zh-TW" altLang="en-US" dirty="0"/>
          </a:p>
        </p:txBody>
      </p:sp>
      <p:sp>
        <p:nvSpPr>
          <p:cNvPr id="12" name="圓角矩形 11"/>
          <p:cNvSpPr/>
          <p:nvPr/>
        </p:nvSpPr>
        <p:spPr>
          <a:xfrm>
            <a:off x="1907704" y="1700808"/>
            <a:ext cx="1194048" cy="5760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FEED</a:t>
            </a:r>
            <a:endParaRPr lang="zh-TW" altLang="en-US" dirty="0"/>
          </a:p>
        </p:txBody>
      </p:sp>
      <p:sp>
        <p:nvSpPr>
          <p:cNvPr id="13" name="圓角矩形 12"/>
          <p:cNvSpPr/>
          <p:nvPr/>
        </p:nvSpPr>
        <p:spPr>
          <a:xfrm>
            <a:off x="1907704" y="2838847"/>
            <a:ext cx="1194048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Engineering, Procurement, Construction</a:t>
            </a:r>
            <a:endParaRPr lang="zh-TW" altLang="en-US" sz="1200" dirty="0"/>
          </a:p>
        </p:txBody>
      </p:sp>
      <p:sp>
        <p:nvSpPr>
          <p:cNvPr id="14" name="圓角矩形 13"/>
          <p:cNvSpPr/>
          <p:nvPr/>
        </p:nvSpPr>
        <p:spPr>
          <a:xfrm>
            <a:off x="3535778" y="2838847"/>
            <a:ext cx="1194048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Mechanical Completion</a:t>
            </a:r>
            <a:endParaRPr lang="zh-TW" altLang="en-US" sz="1200" dirty="0"/>
          </a:p>
        </p:txBody>
      </p:sp>
      <p:sp>
        <p:nvSpPr>
          <p:cNvPr id="15" name="圓角矩形 14"/>
          <p:cNvSpPr/>
          <p:nvPr/>
        </p:nvSpPr>
        <p:spPr>
          <a:xfrm>
            <a:off x="5148064" y="2838847"/>
            <a:ext cx="1194048" cy="57606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Hand-over</a:t>
            </a:r>
            <a:endParaRPr lang="zh-TW" altLang="en-US" sz="1600" dirty="0"/>
          </a:p>
        </p:txBody>
      </p:sp>
      <p:sp>
        <p:nvSpPr>
          <p:cNvPr id="17" name="圓角矩形 16"/>
          <p:cNvSpPr/>
          <p:nvPr/>
        </p:nvSpPr>
        <p:spPr>
          <a:xfrm>
            <a:off x="5148064" y="4228678"/>
            <a:ext cx="1224136" cy="57606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Performance Test </a:t>
            </a:r>
            <a:endParaRPr lang="zh-TW" altLang="en-US" sz="1200" dirty="0"/>
          </a:p>
        </p:txBody>
      </p:sp>
      <p:sp>
        <p:nvSpPr>
          <p:cNvPr id="18" name="圓角矩形 17"/>
          <p:cNvSpPr/>
          <p:nvPr/>
        </p:nvSpPr>
        <p:spPr>
          <a:xfrm>
            <a:off x="5133020" y="5229200"/>
            <a:ext cx="1224136" cy="5760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Provisional Acceptance</a:t>
            </a:r>
            <a:endParaRPr lang="zh-TW" altLang="en-US" sz="1200" dirty="0"/>
          </a:p>
        </p:txBody>
      </p:sp>
      <p:sp>
        <p:nvSpPr>
          <p:cNvPr id="19" name="圓角矩形 18"/>
          <p:cNvSpPr/>
          <p:nvPr/>
        </p:nvSpPr>
        <p:spPr>
          <a:xfrm>
            <a:off x="6876256" y="5229200"/>
            <a:ext cx="1224136" cy="5760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Final </a:t>
            </a:r>
          </a:p>
          <a:p>
            <a:pPr algn="ctr"/>
            <a:r>
              <a:rPr lang="en-US" altLang="zh-TW" sz="1200" dirty="0" smtClean="0"/>
              <a:t>Acceptance</a:t>
            </a:r>
            <a:endParaRPr lang="zh-TW" altLang="en-US" sz="1200" dirty="0"/>
          </a:p>
        </p:txBody>
      </p:sp>
      <p:sp>
        <p:nvSpPr>
          <p:cNvPr id="20" name="圓角矩形 19"/>
          <p:cNvSpPr/>
          <p:nvPr/>
        </p:nvSpPr>
        <p:spPr>
          <a:xfrm>
            <a:off x="1883321" y="4228678"/>
            <a:ext cx="1224136" cy="57606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Commissioning </a:t>
            </a:r>
            <a:endParaRPr lang="zh-TW" altLang="en-US" sz="1200" dirty="0"/>
          </a:p>
        </p:txBody>
      </p:sp>
      <p:cxnSp>
        <p:nvCxnSpPr>
          <p:cNvPr id="6" name="直線單箭頭接點 5"/>
          <p:cNvCxnSpPr>
            <a:stCxn id="5" idx="3"/>
            <a:endCxn id="5" idx="3"/>
          </p:cNvCxnSpPr>
          <p:nvPr/>
        </p:nvCxnSpPr>
        <p:spPr>
          <a:xfrm>
            <a:off x="1630388" y="198884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>
            <a:stCxn id="5" idx="3"/>
            <a:endCxn id="12" idx="1"/>
          </p:cNvCxnSpPr>
          <p:nvPr/>
        </p:nvCxnSpPr>
        <p:spPr>
          <a:xfrm>
            <a:off x="1630388" y="1988840"/>
            <a:ext cx="277316" cy="0"/>
          </a:xfrm>
          <a:prstGeom prst="straightConnector1">
            <a:avLst/>
          </a:prstGeom>
          <a:ln w="25400" cmpd="sng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/>
          <p:cNvCxnSpPr>
            <a:stCxn id="12" idx="3"/>
            <a:endCxn id="13" idx="1"/>
          </p:cNvCxnSpPr>
          <p:nvPr/>
        </p:nvCxnSpPr>
        <p:spPr>
          <a:xfrm flipH="1">
            <a:off x="1907704" y="1988840"/>
            <a:ext cx="1194048" cy="1138039"/>
          </a:xfrm>
          <a:prstGeom prst="bentConnector5">
            <a:avLst>
              <a:gd name="adj1" fmla="val -19145"/>
              <a:gd name="adj2" fmla="val 43304"/>
              <a:gd name="adj3" fmla="val 131908"/>
            </a:avLst>
          </a:prstGeom>
          <a:ln w="254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3" idx="3"/>
            <a:endCxn id="14" idx="1"/>
          </p:cNvCxnSpPr>
          <p:nvPr/>
        </p:nvCxnSpPr>
        <p:spPr>
          <a:xfrm>
            <a:off x="3101752" y="3126879"/>
            <a:ext cx="434026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4" idx="3"/>
            <a:endCxn id="15" idx="1"/>
          </p:cNvCxnSpPr>
          <p:nvPr/>
        </p:nvCxnSpPr>
        <p:spPr>
          <a:xfrm>
            <a:off x="4729826" y="3126879"/>
            <a:ext cx="418238" cy="0"/>
          </a:xfrm>
          <a:prstGeom prst="straightConnector1">
            <a:avLst/>
          </a:prstGeom>
          <a:ln w="2540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接點 27"/>
          <p:cNvCxnSpPr>
            <a:stCxn id="15" idx="3"/>
            <a:endCxn id="20" idx="1"/>
          </p:cNvCxnSpPr>
          <p:nvPr/>
        </p:nvCxnSpPr>
        <p:spPr>
          <a:xfrm flipH="1">
            <a:off x="1883321" y="3126879"/>
            <a:ext cx="4458791" cy="1389831"/>
          </a:xfrm>
          <a:prstGeom prst="bentConnector5">
            <a:avLst>
              <a:gd name="adj1" fmla="val -5127"/>
              <a:gd name="adj2" fmla="val 50000"/>
              <a:gd name="adj3" fmla="val 105127"/>
            </a:avLst>
          </a:prstGeom>
          <a:ln w="25400" cmpd="sng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接點 36"/>
          <p:cNvCxnSpPr>
            <a:stCxn id="17" idx="3"/>
            <a:endCxn id="18" idx="1"/>
          </p:cNvCxnSpPr>
          <p:nvPr/>
        </p:nvCxnSpPr>
        <p:spPr>
          <a:xfrm flipH="1">
            <a:off x="5133020" y="4516710"/>
            <a:ext cx="1239180" cy="1000522"/>
          </a:xfrm>
          <a:prstGeom prst="bentConnector5">
            <a:avLst>
              <a:gd name="adj1" fmla="val -18448"/>
              <a:gd name="adj2" fmla="val 50000"/>
              <a:gd name="adj3" fmla="val 118448"/>
            </a:avLst>
          </a:prstGeom>
          <a:ln w="25400" cmpd="sng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18" idx="3"/>
            <a:endCxn id="19" idx="1"/>
          </p:cNvCxnSpPr>
          <p:nvPr/>
        </p:nvCxnSpPr>
        <p:spPr>
          <a:xfrm>
            <a:off x="6357156" y="5517232"/>
            <a:ext cx="519100" cy="0"/>
          </a:xfrm>
          <a:prstGeom prst="straightConnector1">
            <a:avLst/>
          </a:prstGeom>
          <a:ln w="25400" cmpd="sng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Program Files (x86)\Microsoft Office\MEDIA\CAGCAT10\j0285698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29867"/>
            <a:ext cx="624272" cy="66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Program Files (x86)\Microsoft Office\MEDIA\CAGCAT10\j0212957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708920"/>
            <a:ext cx="975662" cy="61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橢圓 42"/>
          <p:cNvSpPr/>
          <p:nvPr/>
        </p:nvSpPr>
        <p:spPr>
          <a:xfrm rot="-2700000">
            <a:off x="5160448" y="1769194"/>
            <a:ext cx="1383500" cy="6080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i="1" dirty="0" smtClean="0">
                <a:solidFill>
                  <a:srgbClr val="FF0000"/>
                </a:solidFill>
              </a:rPr>
              <a:t>Mechanical Guarantee</a:t>
            </a:r>
            <a:endParaRPr lang="zh-TW" altLang="en-US" sz="1200" i="1" dirty="0">
              <a:solidFill>
                <a:srgbClr val="FF0000"/>
              </a:solidFill>
            </a:endParaRPr>
          </a:p>
        </p:txBody>
      </p:sp>
      <p:cxnSp>
        <p:nvCxnSpPr>
          <p:cNvPr id="45" name="直線單箭頭接點 44"/>
          <p:cNvCxnSpPr>
            <a:stCxn id="43" idx="2"/>
            <a:endCxn id="14" idx="3"/>
          </p:cNvCxnSpPr>
          <p:nvPr/>
        </p:nvCxnSpPr>
        <p:spPr>
          <a:xfrm flipH="1">
            <a:off x="4729826" y="2562380"/>
            <a:ext cx="633231" cy="564499"/>
          </a:xfrm>
          <a:prstGeom prst="straightConnector1">
            <a:avLst/>
          </a:prstGeom>
          <a:ln w="254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/>
          <p:cNvSpPr/>
          <p:nvPr/>
        </p:nvSpPr>
        <p:spPr>
          <a:xfrm rot="-1500000">
            <a:off x="7088160" y="3476836"/>
            <a:ext cx="1383500" cy="6080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i="1" dirty="0" smtClean="0">
                <a:solidFill>
                  <a:srgbClr val="FF0000"/>
                </a:solidFill>
              </a:rPr>
              <a:t>Performance Guarantee</a:t>
            </a:r>
            <a:endParaRPr lang="zh-TW" altLang="en-US" sz="1200" i="1" dirty="0">
              <a:solidFill>
                <a:srgbClr val="FF0000"/>
              </a:solidFill>
            </a:endParaRPr>
          </a:p>
        </p:txBody>
      </p:sp>
      <p:cxnSp>
        <p:nvCxnSpPr>
          <p:cNvPr id="48" name="直線單箭頭接點 47"/>
          <p:cNvCxnSpPr>
            <a:stCxn id="50" idx="2"/>
            <a:endCxn id="17" idx="3"/>
          </p:cNvCxnSpPr>
          <p:nvPr/>
        </p:nvCxnSpPr>
        <p:spPr>
          <a:xfrm flipH="1">
            <a:off x="6372200" y="4073227"/>
            <a:ext cx="780772" cy="443483"/>
          </a:xfrm>
          <a:prstGeom prst="straightConnector1">
            <a:avLst/>
          </a:prstGeom>
          <a:ln w="254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  <p:pic>
        <p:nvPicPr>
          <p:cNvPr id="9" name="Picture 4" descr="C:\Users\21657\AppData\Local\Microsoft\Windows\Temporary Internet Files\Content.IE5\Z5J3WCDS\MC900110698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719840" y="4706708"/>
            <a:ext cx="699233" cy="166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圓角矩形 45"/>
          <p:cNvSpPr/>
          <p:nvPr/>
        </p:nvSpPr>
        <p:spPr>
          <a:xfrm>
            <a:off x="3563888" y="4221088"/>
            <a:ext cx="1224136" cy="57606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Ready for </a:t>
            </a:r>
          </a:p>
          <a:p>
            <a:pPr algn="ctr"/>
            <a:r>
              <a:rPr lang="en-US" altLang="zh-TW" sz="1200" dirty="0" smtClean="0"/>
              <a:t>Start-up</a:t>
            </a:r>
          </a:p>
          <a:p>
            <a:pPr algn="ctr"/>
            <a:r>
              <a:rPr lang="en-US" altLang="zh-TW" sz="1200" dirty="0" smtClean="0"/>
              <a:t>(RFSU)</a:t>
            </a:r>
            <a:endParaRPr lang="zh-TW" altLang="en-US" sz="1200" dirty="0"/>
          </a:p>
        </p:txBody>
      </p:sp>
      <p:cxnSp>
        <p:nvCxnSpPr>
          <p:cNvPr id="36" name="直線單箭頭接點 35"/>
          <p:cNvCxnSpPr>
            <a:stCxn id="20" idx="3"/>
            <a:endCxn id="46" idx="1"/>
          </p:cNvCxnSpPr>
          <p:nvPr/>
        </p:nvCxnSpPr>
        <p:spPr>
          <a:xfrm flipV="1">
            <a:off x="3107457" y="4509120"/>
            <a:ext cx="456431" cy="759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46" idx="3"/>
            <a:endCxn id="17" idx="1"/>
          </p:cNvCxnSpPr>
          <p:nvPr/>
        </p:nvCxnSpPr>
        <p:spPr>
          <a:xfrm>
            <a:off x="4788024" y="4509120"/>
            <a:ext cx="360040" cy="759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橢圓 3"/>
          <p:cNvSpPr/>
          <p:nvPr/>
        </p:nvSpPr>
        <p:spPr>
          <a:xfrm>
            <a:off x="1619672" y="2557859"/>
            <a:ext cx="3354761" cy="1159173"/>
          </a:xfrm>
          <a:prstGeom prst="ellipse">
            <a:avLst/>
          </a:prstGeom>
          <a:noFill/>
          <a:ln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 rot="-1500000">
            <a:off x="7301280" y="4196916"/>
            <a:ext cx="1383500" cy="6080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i="1" dirty="0" smtClean="0">
                <a:solidFill>
                  <a:srgbClr val="FF0000"/>
                </a:solidFill>
              </a:rPr>
              <a:t>Warranty</a:t>
            </a:r>
            <a:endParaRPr lang="zh-TW" altLang="en-US" sz="1200" i="1" dirty="0">
              <a:solidFill>
                <a:srgbClr val="FF0000"/>
              </a:solidFill>
            </a:endParaRPr>
          </a:p>
        </p:txBody>
      </p:sp>
      <p:cxnSp>
        <p:nvCxnSpPr>
          <p:cNvPr id="33" name="直線單箭頭接點 32"/>
          <p:cNvCxnSpPr>
            <a:stCxn id="32" idx="2"/>
            <a:endCxn id="18" idx="3"/>
          </p:cNvCxnSpPr>
          <p:nvPr/>
        </p:nvCxnSpPr>
        <p:spPr>
          <a:xfrm flipH="1">
            <a:off x="6357156" y="4793307"/>
            <a:ext cx="1008936" cy="723925"/>
          </a:xfrm>
          <a:prstGeom prst="straightConnector1">
            <a:avLst/>
          </a:prstGeom>
          <a:ln w="254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2420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zh-TW" altLang="en-US" dirty="0" smtClean="0">
                <a:latin typeface="華康中楷體" panose="02010609000101010101" pitchFamily="49" charset="-120"/>
                <a:ea typeface="華康中楷體" panose="02010609000101010101" pitchFamily="49" charset="-120"/>
              </a:rPr>
              <a:t>專案管理知識體</a:t>
            </a:r>
            <a:endParaRPr lang="zh-TW" altLang="en-US" dirty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5616" y="1711349"/>
            <a:ext cx="7571184" cy="4525963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dirty="0" smtClean="0">
                <a:ea typeface="華康中楷體" panose="02010609000101010101" pitchFamily="49" charset="-120"/>
              </a:rPr>
              <a:t>專案整合管理</a:t>
            </a:r>
            <a:endParaRPr lang="en-US" altLang="zh-TW" dirty="0" smtClean="0">
              <a:ea typeface="華康中楷體" panose="02010609000101010101" pitchFamily="49" charset="-120"/>
            </a:endParaRPr>
          </a:p>
          <a:p>
            <a:r>
              <a:rPr lang="zh-TW" altLang="en-US" dirty="0" smtClean="0">
                <a:ea typeface="華康中楷體" panose="02010609000101010101" pitchFamily="49" charset="-120"/>
              </a:rPr>
              <a:t>專案範疇管理</a:t>
            </a:r>
            <a:endParaRPr lang="en-US" altLang="zh-TW" dirty="0">
              <a:ea typeface="華康中楷體" panose="02010609000101010101" pitchFamily="49" charset="-120"/>
            </a:endParaRPr>
          </a:p>
          <a:p>
            <a:r>
              <a:rPr lang="zh-TW" altLang="en-US" dirty="0" smtClean="0">
                <a:ea typeface="華康中楷體" panose="02010609000101010101" pitchFamily="49" charset="-120"/>
              </a:rPr>
              <a:t>專案時間管理</a:t>
            </a:r>
            <a:endParaRPr lang="en-US" altLang="zh-TW" dirty="0">
              <a:ea typeface="華康中楷體" panose="02010609000101010101" pitchFamily="49" charset="-120"/>
            </a:endParaRPr>
          </a:p>
          <a:p>
            <a:r>
              <a:rPr lang="zh-TW" altLang="en-US" dirty="0" smtClean="0">
                <a:ea typeface="華康中楷體" panose="02010609000101010101" pitchFamily="49" charset="-120"/>
              </a:rPr>
              <a:t>專案成本管理</a:t>
            </a:r>
            <a:endParaRPr lang="en-US" altLang="zh-TW" dirty="0">
              <a:ea typeface="華康中楷體" panose="02010609000101010101" pitchFamily="49" charset="-120"/>
            </a:endParaRPr>
          </a:p>
          <a:p>
            <a:r>
              <a:rPr lang="zh-TW" altLang="en-US" dirty="0" smtClean="0">
                <a:ea typeface="華康中楷體" panose="02010609000101010101" pitchFamily="49" charset="-120"/>
              </a:rPr>
              <a:t>專案品質管理</a:t>
            </a:r>
            <a:endParaRPr lang="en-US" altLang="zh-TW" dirty="0">
              <a:ea typeface="華康中楷體" panose="02010609000101010101" pitchFamily="49" charset="-120"/>
            </a:endParaRPr>
          </a:p>
          <a:p>
            <a:r>
              <a:rPr lang="zh-TW" altLang="en-US" dirty="0" smtClean="0">
                <a:ea typeface="華康中楷體" panose="02010609000101010101" pitchFamily="49" charset="-120"/>
              </a:rPr>
              <a:t>專案人力資源管理</a:t>
            </a:r>
            <a:endParaRPr lang="en-US" altLang="zh-TW" dirty="0">
              <a:ea typeface="華康中楷體" panose="02010609000101010101" pitchFamily="49" charset="-120"/>
            </a:endParaRPr>
          </a:p>
          <a:p>
            <a:r>
              <a:rPr lang="zh-TW" altLang="en-US" dirty="0" smtClean="0">
                <a:ea typeface="華康中楷體" panose="02010609000101010101" pitchFamily="49" charset="-120"/>
              </a:rPr>
              <a:t>專案溝通管理</a:t>
            </a:r>
            <a:endParaRPr lang="en-US" altLang="zh-TW" dirty="0">
              <a:ea typeface="華康中楷體" panose="02010609000101010101" pitchFamily="49" charset="-120"/>
            </a:endParaRPr>
          </a:p>
          <a:p>
            <a:r>
              <a:rPr lang="zh-TW" altLang="en-US" dirty="0" smtClean="0">
                <a:ea typeface="華康中楷體" panose="02010609000101010101" pitchFamily="49" charset="-120"/>
              </a:rPr>
              <a:t>專案風險管理</a:t>
            </a:r>
            <a:endParaRPr lang="en-US" altLang="zh-TW" dirty="0" smtClean="0">
              <a:ea typeface="華康中楷體" panose="02010609000101010101" pitchFamily="49" charset="-120"/>
            </a:endParaRPr>
          </a:p>
          <a:p>
            <a:r>
              <a:rPr lang="zh-TW" altLang="en-US" dirty="0" smtClean="0">
                <a:ea typeface="華康中楷體" panose="02010609000101010101" pitchFamily="49" charset="-120"/>
              </a:rPr>
              <a:t>專案採購管理</a:t>
            </a:r>
            <a:endParaRPr lang="en-US" altLang="zh-TW" dirty="0">
              <a:ea typeface="華康中楷體" panose="02010609000101010101" pitchFamily="49" charset="-120"/>
            </a:endParaRPr>
          </a:p>
          <a:p>
            <a:r>
              <a:rPr lang="zh-TW" altLang="en-US" dirty="0">
                <a:ea typeface="華康中楷體" panose="02010609000101010101" pitchFamily="49" charset="-120"/>
              </a:rPr>
              <a:t>專案整合管理</a:t>
            </a:r>
            <a:endParaRPr lang="en-US" altLang="zh-TW" dirty="0">
              <a:ea typeface="華康中楷體" panose="02010609000101010101" pitchFamily="49" charset="-120"/>
            </a:endParaRPr>
          </a:p>
          <a:p>
            <a:r>
              <a:rPr lang="zh-TW" altLang="en-US" dirty="0">
                <a:ea typeface="華康中楷體" panose="02010609000101010101" pitchFamily="49" charset="-120"/>
              </a:rPr>
              <a:t>專案利害關係人</a:t>
            </a:r>
            <a:r>
              <a:rPr lang="zh-TW" altLang="en-US" dirty="0" smtClean="0">
                <a:ea typeface="華康中楷體" panose="02010609000101010101" pitchFamily="49" charset="-120"/>
              </a:rPr>
              <a:t>管理</a:t>
            </a:r>
            <a:endParaRPr lang="en-US" altLang="zh-TW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3681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</a:t>
            </a:r>
          </a:p>
          <a:p>
            <a:r>
              <a:rPr lang="en-US" altLang="zh-TW" dirty="0"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 smtClean="0"/>
              <a:t>Pre-commissioning</a:t>
            </a:r>
          </a:p>
          <a:p>
            <a:r>
              <a:rPr lang="en-US" altLang="zh-TW" dirty="0" smtClean="0"/>
              <a:t>Commissioning </a:t>
            </a:r>
          </a:p>
          <a:p>
            <a:r>
              <a:rPr lang="en-US" altLang="zh-TW" dirty="0" smtClean="0"/>
              <a:t>Performance Test</a:t>
            </a:r>
          </a:p>
          <a:p>
            <a:r>
              <a:rPr lang="en-US" altLang="zh-TW" dirty="0" smtClean="0"/>
              <a:t>Project Management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</a:t>
            </a:r>
          </a:p>
          <a:p>
            <a:r>
              <a:rPr lang="en-US" altLang="zh-TW" dirty="0"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 smtClean="0"/>
              <a:t>Pre-commissioning </a:t>
            </a:r>
          </a:p>
          <a:p>
            <a:r>
              <a:rPr lang="en-US" altLang="zh-TW" dirty="0" smtClean="0"/>
              <a:t>Commissioning </a:t>
            </a:r>
          </a:p>
          <a:p>
            <a:r>
              <a:rPr lang="en-US" altLang="zh-TW" dirty="0" smtClean="0"/>
              <a:t>Performance Test</a:t>
            </a:r>
          </a:p>
          <a:p>
            <a:r>
              <a:rPr lang="en-US" altLang="zh-TW" dirty="0" smtClean="0"/>
              <a:t>Project Management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1776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Invitation to Bid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Instruction to Bidder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Scope of Work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Contract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Project Document</a:t>
            </a:r>
          </a:p>
          <a:p>
            <a:pPr marL="774900">
              <a:spcBef>
                <a:spcPts val="0"/>
              </a:spcBef>
              <a:buFontTx/>
              <a:buChar char="-"/>
            </a:pPr>
            <a:r>
              <a:rPr lang="en-US" altLang="zh-TW" sz="24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Specifications</a:t>
            </a:r>
            <a:endParaRPr lang="en-US" altLang="zh-TW" sz="24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774900">
              <a:spcBef>
                <a:spcPts val="0"/>
              </a:spcBef>
              <a:buFontTx/>
              <a:buChar char="-"/>
            </a:pPr>
            <a:r>
              <a:rPr lang="en-US" altLang="zh-TW" sz="2400" dirty="0">
                <a:solidFill>
                  <a:srgbClr val="0070C0"/>
                </a:solidFill>
                <a:ea typeface="華康中楷體" panose="02010609000101010101" pitchFamily="49" charset="-120"/>
              </a:rPr>
              <a:t>Procedures</a:t>
            </a:r>
          </a:p>
          <a:p>
            <a:pPr marL="774900">
              <a:spcBef>
                <a:spcPts val="0"/>
              </a:spcBef>
              <a:buFontTx/>
              <a:buChar char="-"/>
            </a:pPr>
            <a:r>
              <a:rPr lang="en-US" altLang="zh-TW" sz="24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Reporting</a:t>
            </a:r>
          </a:p>
          <a:p>
            <a:pPr marL="774900">
              <a:spcBef>
                <a:spcPts val="0"/>
              </a:spcBef>
              <a:buFontTx/>
              <a:buChar char="-"/>
            </a:pPr>
            <a:r>
              <a:rPr lang="en-US" altLang="zh-TW" sz="24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Site and Environmental Data</a:t>
            </a:r>
            <a:endParaRPr lang="en-US" altLang="zh-TW" sz="24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Invitation to Bid (ITB)</a:t>
            </a:r>
          </a:p>
          <a:p>
            <a:r>
              <a:rPr lang="en-US" altLang="zh-TW" sz="4000" b="1" dirty="0" smtClean="0">
                <a:solidFill>
                  <a:srgbClr val="FF0000"/>
                </a:solidFill>
                <a:ea typeface="華康中楷體" panose="02010609000101010101" pitchFamily="49" charset="-120"/>
              </a:rPr>
              <a:t>Budget</a:t>
            </a:r>
          </a:p>
          <a:p>
            <a:r>
              <a:rPr lang="en-US" altLang="zh-TW" dirty="0"/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 smtClean="0"/>
              <a:t>Pre-commissioning</a:t>
            </a:r>
          </a:p>
          <a:p>
            <a:r>
              <a:rPr lang="en-US" altLang="zh-TW" dirty="0" smtClean="0"/>
              <a:t>Commissioning </a:t>
            </a:r>
          </a:p>
          <a:p>
            <a:r>
              <a:rPr lang="en-US" altLang="zh-TW" dirty="0" smtClean="0"/>
              <a:t>Performance</a:t>
            </a:r>
          </a:p>
          <a:p>
            <a:r>
              <a:rPr lang="en-US" altLang="zh-TW" dirty="0" smtClean="0"/>
              <a:t>Project Management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850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Budget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Licensor fee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Engineering, Equipment &amp; Material, Construction cost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Chemical and Catalyst cost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Importing Tax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Insurance Fee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Others</a:t>
            </a: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24083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</a:t>
            </a:r>
          </a:p>
          <a:p>
            <a:r>
              <a:rPr lang="en-US" altLang="zh-TW" sz="4000" b="1" dirty="0">
                <a:solidFill>
                  <a:srgbClr val="FF0000"/>
                </a:solidFill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 smtClean="0"/>
              <a:t>Pre-commissioning </a:t>
            </a:r>
          </a:p>
          <a:p>
            <a:r>
              <a:rPr lang="en-US" altLang="zh-TW" dirty="0" smtClean="0"/>
              <a:t>Commissioning </a:t>
            </a:r>
          </a:p>
          <a:p>
            <a:r>
              <a:rPr lang="en-US" altLang="zh-TW" dirty="0" smtClean="0"/>
              <a:t>Performance Test</a:t>
            </a:r>
            <a:endParaRPr lang="en-US" altLang="zh-TW" dirty="0"/>
          </a:p>
          <a:p>
            <a:r>
              <a:rPr lang="en-US" altLang="zh-TW" dirty="0" smtClean="0"/>
              <a:t>Project Management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850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/>
              <a:t>Planning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711349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Contract Type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Process Unit (ISBL) 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Supporting Facilities (OSBL)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Permit Application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Project Schedule</a:t>
            </a:r>
            <a:r>
              <a:rPr lang="en-US" altLang="zh-TW" sz="3500" dirty="0" smtClean="0">
                <a:latin typeface="華康中楷體" panose="02010609000101010101" pitchFamily="49" charset="-120"/>
                <a:ea typeface="華康中楷體" panose="02010609000101010101" pitchFamily="49" charset="-120"/>
              </a:rPr>
              <a:t>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Engineering / Procurement / Construction / Commissioning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Temporary Facilities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Shutdown &amp; Tie-in to Existing Systems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Transportation of Heavy/Large Equipment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Insurance Policy</a:t>
            </a: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475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Contract Type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/>
              <a:t>Lump Sum Turn Key (LSTK) for Engineering, Equipment &amp; Material Supply, Erection, and Installation; or,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/>
              <a:t>Reimbursable,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/>
              <a:t>Cost Plus</a:t>
            </a:r>
            <a:endParaRPr lang="en-US" altLang="zh-TW" dirty="0" smtClean="0">
              <a:solidFill>
                <a:srgbClr val="00B050"/>
              </a:solidFill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75223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Process Unit (ISBL)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/>
              <a:t>Licensing unit, or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/>
              <a:t>Open Art unit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/>
              <a:t>Process </a:t>
            </a:r>
            <a:r>
              <a:rPr lang="en-US" altLang="zh-TW" dirty="0"/>
              <a:t>Design </a:t>
            </a:r>
            <a:r>
              <a:rPr lang="en-US" altLang="zh-TW" dirty="0" smtClean="0"/>
              <a:t>Package (PDP) by Licensor</a:t>
            </a:r>
            <a:endParaRPr lang="en-US" altLang="zh-TW" dirty="0"/>
          </a:p>
          <a:p>
            <a:pPr marL="360000" indent="-432000">
              <a:spcBef>
                <a:spcPts val="600"/>
              </a:spcBef>
            </a:pPr>
            <a:r>
              <a:rPr lang="en-US" altLang="zh-TW" dirty="0"/>
              <a:t>Front End Engineering </a:t>
            </a:r>
            <a:r>
              <a:rPr lang="en-US" altLang="zh-TW" dirty="0" smtClean="0"/>
              <a:t>Design (FEED) </a:t>
            </a:r>
            <a:endParaRPr lang="en-US" altLang="zh-TW" dirty="0"/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solidFill>
                <a:srgbClr val="00B050"/>
              </a:solidFill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45091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Supporting Facilities 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en-US" altLang="zh-TW" sz="3800" dirty="0" smtClean="0">
                <a:ea typeface="華康中楷體" panose="02010609000101010101" pitchFamily="49" charset="-120"/>
              </a:rPr>
              <a:t>Power Supply System</a:t>
            </a:r>
          </a:p>
          <a:p>
            <a:pPr marL="774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US" altLang="zh-TW" sz="23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City Power, Emergency Power, UPS, etc.,</a:t>
            </a: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en-US" altLang="zh-TW" sz="3800" dirty="0">
                <a:ea typeface="華康中楷體" panose="02010609000101010101" pitchFamily="49" charset="-120"/>
              </a:rPr>
              <a:t>Air System</a:t>
            </a:r>
          </a:p>
          <a:p>
            <a:pPr marL="774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US" altLang="zh-TW" sz="2300" dirty="0">
                <a:solidFill>
                  <a:srgbClr val="0070C0"/>
                </a:solidFill>
                <a:ea typeface="華康中楷體" panose="02010609000101010101" pitchFamily="49" charset="-120"/>
              </a:rPr>
              <a:t>Plant Air, Instrument Air, Nitrogen, etc., </a:t>
            </a: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en-US" altLang="zh-TW" sz="3800" dirty="0">
                <a:ea typeface="華康中楷體" panose="02010609000101010101" pitchFamily="49" charset="-120"/>
              </a:rPr>
              <a:t>Fire Fighting System</a:t>
            </a:r>
          </a:p>
          <a:p>
            <a:pPr marL="774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US" altLang="zh-TW" sz="2300" dirty="0">
                <a:solidFill>
                  <a:srgbClr val="0070C0"/>
                </a:solidFill>
                <a:ea typeface="華康中楷體" panose="02010609000101010101" pitchFamily="49" charset="-120"/>
              </a:rPr>
              <a:t>Fire Station / Fire Engine, Fire Water Pond, Fire Water Pump, </a:t>
            </a:r>
            <a:r>
              <a:rPr lang="en-US" altLang="zh-TW" sz="23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Clean Agent System, </a:t>
            </a:r>
            <a:r>
              <a:rPr lang="en-US" altLang="zh-TW" sz="2300" dirty="0">
                <a:solidFill>
                  <a:srgbClr val="0070C0"/>
                </a:solidFill>
                <a:ea typeface="華康中楷體" panose="02010609000101010101" pitchFamily="49" charset="-120"/>
              </a:rPr>
              <a:t>etc.</a:t>
            </a: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en-US" altLang="zh-TW" sz="3800" dirty="0">
                <a:ea typeface="華康中楷體" panose="02010609000101010101" pitchFamily="49" charset="-120"/>
              </a:rPr>
              <a:t>Plant Water System </a:t>
            </a:r>
          </a:p>
          <a:p>
            <a:pPr marL="77490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en-US" altLang="zh-TW" sz="2300" dirty="0">
                <a:solidFill>
                  <a:srgbClr val="0070C0"/>
                </a:solidFill>
                <a:ea typeface="華康中楷體" panose="02010609000101010101" pitchFamily="49" charset="-120"/>
              </a:rPr>
              <a:t>Raw Water, De-mineral Water, Cooling Water System, Potable Water, etc.</a:t>
            </a: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en-US" altLang="zh-TW" sz="3800" dirty="0">
                <a:ea typeface="華康中楷體" panose="02010609000101010101" pitchFamily="49" charset="-120"/>
              </a:rPr>
              <a:t>Steam System</a:t>
            </a:r>
          </a:p>
          <a:p>
            <a:pPr marL="774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US" altLang="zh-TW" sz="2300" dirty="0">
                <a:solidFill>
                  <a:srgbClr val="0070C0"/>
                </a:solidFill>
                <a:ea typeface="華康中楷體" panose="02010609000101010101" pitchFamily="49" charset="-120"/>
              </a:rPr>
              <a:t> HP, MP, LP Steam</a:t>
            </a: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en-US" altLang="zh-TW" sz="3400" dirty="0">
                <a:ea typeface="華康中楷體" panose="02010609000101010101" pitchFamily="49" charset="-120"/>
              </a:rPr>
              <a:t>Environment Protection System</a:t>
            </a:r>
          </a:p>
          <a:p>
            <a:pPr marL="774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US" altLang="zh-TW" sz="2300" dirty="0">
                <a:solidFill>
                  <a:srgbClr val="0070C0"/>
                </a:solidFill>
                <a:ea typeface="華康中楷體" panose="02010609000101010101" pitchFamily="49" charset="-120"/>
              </a:rPr>
              <a:t> WWT, Incinerator</a:t>
            </a:r>
            <a:r>
              <a:rPr lang="en-US" altLang="zh-TW" sz="23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, Solid Waste Storage, etc. </a:t>
            </a:r>
            <a:endParaRPr lang="en-US" altLang="zh-TW" sz="23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7321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Permit</a:t>
            </a:r>
            <a:r>
              <a:rPr lang="zh-TW" altLang="en-US" dirty="0" smtClean="0">
                <a:latin typeface="+mn-lt"/>
                <a:ea typeface="華康中楷體" panose="02010609000101010101" pitchFamily="49" charset="-120"/>
              </a:rPr>
              <a:t> </a:t>
            </a:r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Application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zh-TW" altLang="en-US" sz="3800" dirty="0" smtClean="0">
                <a:ea typeface="華康中楷體" panose="02010609000101010101" pitchFamily="49" charset="-120"/>
              </a:rPr>
              <a:t>建築物執照</a:t>
            </a:r>
            <a:endParaRPr lang="en-US" altLang="zh-TW" sz="3800" dirty="0">
              <a:ea typeface="華康中楷體" panose="02010609000101010101" pitchFamily="49" charset="-120"/>
            </a:endParaRP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zh-TW" altLang="en-US" sz="3800" dirty="0">
                <a:ea typeface="華康中楷體" panose="02010609000101010101" pitchFamily="49" charset="-120"/>
              </a:rPr>
              <a:t>雜項執照</a:t>
            </a:r>
            <a:endParaRPr lang="en-US" altLang="zh-TW" sz="3800" dirty="0">
              <a:ea typeface="華康中楷體" panose="02010609000101010101" pitchFamily="49" charset="-120"/>
            </a:endParaRP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zh-TW" altLang="en-US" sz="3800" dirty="0" smtClean="0">
                <a:ea typeface="華康中楷體" panose="02010609000101010101" pitchFamily="49" charset="-120"/>
              </a:rPr>
              <a:t>固定污染源設置 </a:t>
            </a:r>
            <a:r>
              <a:rPr lang="en-US" altLang="zh-TW" sz="3800" dirty="0" smtClean="0">
                <a:ea typeface="華康中楷體" panose="02010609000101010101" pitchFamily="49" charset="-120"/>
              </a:rPr>
              <a:t>/ </a:t>
            </a:r>
            <a:r>
              <a:rPr lang="zh-TW" altLang="en-US" sz="3800" dirty="0" smtClean="0">
                <a:ea typeface="華康中楷體" panose="02010609000101010101" pitchFamily="49" charset="-120"/>
              </a:rPr>
              <a:t>操作許可</a:t>
            </a:r>
            <a:endParaRPr lang="en-US" altLang="zh-TW" sz="2300" dirty="0" smtClean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zh-TW" altLang="en-US" sz="3700" dirty="0">
                <a:ea typeface="華康中楷體" panose="02010609000101010101" pitchFamily="49" charset="-120"/>
              </a:rPr>
              <a:t>危險性</a:t>
            </a:r>
            <a:r>
              <a:rPr lang="zh-TW" altLang="en-US" sz="3700" dirty="0" smtClean="0">
                <a:ea typeface="華康中楷體" panose="02010609000101010101" pitchFamily="49" charset="-120"/>
              </a:rPr>
              <a:t>機械檢查合格</a:t>
            </a:r>
            <a:r>
              <a:rPr lang="zh-TW" altLang="en-US" sz="3700" dirty="0">
                <a:ea typeface="華康中楷體" panose="02010609000101010101" pitchFamily="49" charset="-120"/>
              </a:rPr>
              <a:t>證</a:t>
            </a:r>
            <a:endParaRPr lang="en-US" altLang="zh-TW" sz="3700" dirty="0">
              <a:ea typeface="華康中楷體" panose="02010609000101010101" pitchFamily="49" charset="-120"/>
            </a:endParaRPr>
          </a:p>
          <a:p>
            <a:pPr marL="77490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zh-TW" altLang="en-US" sz="23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天車</a:t>
            </a:r>
            <a:r>
              <a:rPr lang="zh-TW" altLang="en-US" sz="2300" dirty="0" smtClean="0">
                <a:solidFill>
                  <a:srgbClr val="0070C0"/>
                </a:solidFill>
                <a:latin typeface="華康中楷體"/>
                <a:ea typeface="華康中楷體"/>
              </a:rPr>
              <a:t>、升降機</a:t>
            </a:r>
            <a:endParaRPr lang="en-US" altLang="zh-TW" sz="23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zh-TW" altLang="en-US" sz="4000" dirty="0" smtClean="0">
                <a:ea typeface="華康中楷體" panose="02010609000101010101" pitchFamily="49" charset="-120"/>
              </a:rPr>
              <a:t>危險性設備檢查</a:t>
            </a:r>
            <a:endParaRPr lang="en-US" altLang="zh-TW" sz="4000" dirty="0">
              <a:ea typeface="華康中楷體" panose="02010609000101010101" pitchFamily="49" charset="-120"/>
            </a:endParaRPr>
          </a:p>
          <a:p>
            <a:pPr marL="774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US" altLang="zh-TW" sz="23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 </a:t>
            </a:r>
            <a:r>
              <a:rPr lang="zh-TW" altLang="en-US" sz="23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鍋爐</a:t>
            </a:r>
            <a:r>
              <a:rPr lang="zh-TW" altLang="en-US" sz="2300" dirty="0">
                <a:solidFill>
                  <a:srgbClr val="0070C0"/>
                </a:solidFill>
                <a:latin typeface="華康中楷體"/>
                <a:ea typeface="華康中楷體"/>
              </a:rPr>
              <a:t>、</a:t>
            </a:r>
            <a:r>
              <a:rPr lang="zh-TW" altLang="en-US" sz="23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  壓力容器</a:t>
            </a:r>
            <a:endParaRPr lang="en-US" altLang="zh-TW" sz="2300" dirty="0" smtClean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774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zh-TW" altLang="en-US" sz="23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進口設備重新檢查</a:t>
            </a:r>
            <a:endParaRPr lang="en-US" altLang="zh-TW" sz="2300" dirty="0" smtClean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zh-TW" altLang="en-US" sz="3600" dirty="0" smtClean="0">
                <a:ea typeface="華康中楷體" panose="02010609000101010101" pitchFamily="49" charset="-120"/>
              </a:rPr>
              <a:t>危險性工作場所 </a:t>
            </a:r>
            <a:r>
              <a:rPr lang="en-US" altLang="zh-TW" sz="3600" dirty="0" smtClean="0">
                <a:ea typeface="華康中楷體" panose="02010609000101010101" pitchFamily="49" charset="-120"/>
              </a:rPr>
              <a:t>(</a:t>
            </a:r>
            <a:r>
              <a:rPr lang="zh-TW" altLang="en-US" sz="3600" dirty="0" smtClean="0">
                <a:ea typeface="華康中楷體" panose="02010609000101010101" pitchFamily="49" charset="-120"/>
              </a:rPr>
              <a:t>甲</a:t>
            </a:r>
            <a:r>
              <a:rPr lang="en-US" altLang="zh-TW" sz="3600" dirty="0" smtClean="0">
                <a:ea typeface="華康中楷體" panose="02010609000101010101" pitchFamily="49" charset="-120"/>
              </a:rPr>
              <a:t>&amp;</a:t>
            </a:r>
            <a:r>
              <a:rPr lang="zh-TW" altLang="en-US" sz="3600" dirty="0" smtClean="0">
                <a:ea typeface="華康中楷體" panose="02010609000101010101" pitchFamily="49" charset="-120"/>
              </a:rPr>
              <a:t>丙類</a:t>
            </a:r>
            <a:r>
              <a:rPr lang="en-US" altLang="zh-TW" sz="3600" dirty="0" smtClean="0">
                <a:ea typeface="華康中楷體" panose="02010609000101010101" pitchFamily="49" charset="-120"/>
              </a:rPr>
              <a:t>)</a:t>
            </a:r>
            <a:r>
              <a:rPr lang="zh-TW" altLang="en-US" sz="3600" dirty="0" smtClean="0">
                <a:ea typeface="華康中楷體" panose="02010609000101010101" pitchFamily="49" charset="-120"/>
              </a:rPr>
              <a:t>審查暨檢查</a:t>
            </a:r>
            <a:endParaRPr lang="en-US" altLang="zh-TW" sz="3600" dirty="0" smtClean="0">
              <a:ea typeface="華康中楷體" panose="02010609000101010101" pitchFamily="49" charset="-120"/>
            </a:endParaRP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zh-TW" altLang="en-US" sz="3600" dirty="0" smtClean="0">
                <a:ea typeface="華康中楷體" panose="02010609000101010101" pitchFamily="49" charset="-120"/>
              </a:rPr>
              <a:t>廠區消防系統</a:t>
            </a:r>
            <a:endParaRPr lang="en-US" altLang="zh-TW" sz="3600" dirty="0" smtClean="0">
              <a:ea typeface="華康中楷體" panose="02010609000101010101" pitchFamily="49" charset="-120"/>
            </a:endParaRP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zh-TW" altLang="en-US" sz="3600" dirty="0" smtClean="0">
                <a:ea typeface="華康中楷體" panose="02010609000101010101" pitchFamily="49" charset="-120"/>
              </a:rPr>
              <a:t>防爆電氣設備型式認證</a:t>
            </a: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pPr marL="360000" indent="-432000">
              <a:lnSpc>
                <a:spcPct val="110000"/>
              </a:lnSpc>
              <a:spcBef>
                <a:spcPts val="600"/>
              </a:spcBef>
            </a:pPr>
            <a:r>
              <a:rPr lang="zh-TW" altLang="en-US" sz="3700" dirty="0">
                <a:ea typeface="華康中楷體" panose="02010609000101010101" pitchFamily="49" charset="-120"/>
              </a:rPr>
              <a:t>台電用電申請與許可</a:t>
            </a:r>
            <a:endParaRPr lang="en-US" altLang="zh-TW" sz="3700" dirty="0"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7896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Project Schedule 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solidFill>
                  <a:srgbClr val="FF0000"/>
                </a:solidFill>
                <a:ea typeface="華康中楷體" panose="02010609000101010101" pitchFamily="49" charset="-120"/>
              </a:rPr>
              <a:t>Process Design Package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solidFill>
                  <a:srgbClr val="FF0000"/>
                </a:solidFill>
                <a:ea typeface="華康中楷體" panose="02010609000101010101" pitchFamily="49" charset="-120"/>
              </a:rPr>
              <a:t>Front End Engineering Design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Detailed Engineering Design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Procurement of Equipment &amp; Material</a:t>
            </a:r>
          </a:p>
          <a:p>
            <a:pPr marL="432000" indent="0">
              <a:spcBef>
                <a:spcPts val="600"/>
              </a:spcBef>
              <a:buNone/>
            </a:pPr>
            <a:r>
              <a:rPr lang="en-US" altLang="zh-TW" sz="2000" dirty="0" smtClean="0">
                <a:ea typeface="華康中楷體" panose="02010609000101010101" pitchFamily="49" charset="-120"/>
              </a:rPr>
              <a:t>-	</a:t>
            </a:r>
            <a:r>
              <a:rPr lang="en-US" altLang="zh-TW" sz="20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Delivery of Long Lead Equipment/Material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Construction &amp; Pre-Commissioning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solidFill>
                  <a:srgbClr val="00B050"/>
                </a:solidFill>
                <a:ea typeface="華康中楷體" panose="02010609000101010101" pitchFamily="49" charset="-120"/>
              </a:rPr>
              <a:t>Commissioning &amp; Performance Test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Total Schedule --&gt; </a:t>
            </a:r>
            <a:r>
              <a:rPr lang="en-US" altLang="zh-TW" dirty="0" smtClean="0">
                <a:solidFill>
                  <a:srgbClr val="FF0000"/>
                </a:solidFill>
                <a:ea typeface="華康中楷體" panose="02010609000101010101" pitchFamily="49" charset="-120"/>
              </a:rPr>
              <a:t>Target Completion Date</a:t>
            </a: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05691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+mn-lt"/>
                <a:ea typeface="華康中楷體" panose="02010609000101010101" pitchFamily="49" charset="-120"/>
              </a:rPr>
              <a:t>Engineering / Procure. / Constr. / Comm.</a:t>
            </a:r>
            <a:endParaRPr lang="zh-TW" altLang="en-US" sz="3600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Potential EPC Contractors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Approved Vendor List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Pre-Qualification (PQ) / Shop Visit</a:t>
            </a:r>
            <a:endParaRPr lang="en-US" altLang="zh-TW" sz="20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Detailed Engineering Design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Procurement Service + E/M Supply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Construction Management + Construction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Commissioning Assistance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9081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Temporary Facilities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Construction Fence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Construction Office</a:t>
            </a:r>
          </a:p>
          <a:p>
            <a:pPr marL="889200" indent="-3600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Construction office, Warehouse, Work Shop, Dormitory, Canteen, etc.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Laydown Area &amp; Dumping Area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Temporary Water  &amp;</a:t>
            </a:r>
            <a:r>
              <a:rPr lang="zh-TW" altLang="en-US" dirty="0" smtClean="0">
                <a:ea typeface="華康中楷體" panose="02010609000101010101" pitchFamily="49" charset="-120"/>
              </a:rPr>
              <a:t> </a:t>
            </a:r>
            <a:r>
              <a:rPr lang="en-US" altLang="zh-TW" dirty="0" smtClean="0">
                <a:ea typeface="華康中楷體" panose="02010609000101010101" pitchFamily="49" charset="-120"/>
              </a:rPr>
              <a:t>Power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Telephone &amp; Internet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Utilities for Commissioning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2708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Tie-in to Existing Systems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Modification of Existing </a:t>
            </a:r>
            <a:r>
              <a:rPr lang="en-US" altLang="zh-TW" dirty="0" smtClean="0">
                <a:ea typeface="華康中楷體" panose="02010609000101010101" pitchFamily="49" charset="-120"/>
              </a:rPr>
              <a:t>Systems to fit new requirements</a:t>
            </a: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Tie-in Points and Locations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Shut-down Schedule for tie-in work</a:t>
            </a: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8467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Transportation Route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Transportation Route for People and Vehicles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Transportation Route for Large/Heavy Equipment</a:t>
            </a:r>
          </a:p>
          <a:p>
            <a:pPr marL="8721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20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Bearing Capacity of Unloading Berth, Roll-in/Roll-out, Clearance, etc.</a:t>
            </a:r>
            <a:endParaRPr lang="en-US" altLang="zh-TW" sz="20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Modification of Existing Access Way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4998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Insurance Policy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Construction All Risk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Employer Liability Insurance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Vehicle Insurance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3</a:t>
            </a:r>
            <a:r>
              <a:rPr lang="en-US" altLang="zh-TW" baseline="30000" dirty="0" smtClean="0">
                <a:ea typeface="華康中楷體" panose="02010609000101010101" pitchFamily="49" charset="-120"/>
              </a:rPr>
              <a:t>rd</a:t>
            </a:r>
            <a:r>
              <a:rPr lang="en-US" altLang="zh-TW" dirty="0" smtClean="0">
                <a:ea typeface="華康中楷體" panose="02010609000101010101" pitchFamily="49" charset="-120"/>
              </a:rPr>
              <a:t> Party Liability Insurance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Marine Insurance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solidFill>
                  <a:srgbClr val="7030A0"/>
                </a:solidFill>
                <a:ea typeface="華康中楷體" panose="02010609000101010101" pitchFamily="49" charset="-120"/>
                <a:hlinkClick r:id="rId3" action="ppaction://hlinkfile"/>
              </a:rPr>
              <a:t>Insurance Policy</a:t>
            </a:r>
            <a:endParaRPr lang="en-US" altLang="zh-TW" dirty="0" smtClean="0">
              <a:solidFill>
                <a:srgbClr val="7030A0"/>
              </a:solidFill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solidFill>
                <a:srgbClr val="7030A0"/>
              </a:solidFill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44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</a:t>
            </a:r>
          </a:p>
          <a:p>
            <a:r>
              <a:rPr lang="en-US" altLang="zh-TW" dirty="0"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sz="4000" b="1" dirty="0" smtClean="0">
                <a:solidFill>
                  <a:srgbClr val="FF0000"/>
                </a:solidFill>
              </a:rPr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 smtClean="0"/>
              <a:t>Pre-commissioning </a:t>
            </a:r>
          </a:p>
          <a:p>
            <a:r>
              <a:rPr lang="en-US" altLang="zh-TW" dirty="0" smtClean="0"/>
              <a:t>Commissioning </a:t>
            </a:r>
          </a:p>
          <a:p>
            <a:r>
              <a:rPr lang="en-US" altLang="zh-TW" dirty="0" smtClean="0"/>
              <a:t>Performance Test</a:t>
            </a:r>
            <a:endParaRPr lang="en-US" altLang="zh-TW" dirty="0"/>
          </a:p>
          <a:p>
            <a:r>
              <a:rPr lang="en-US" altLang="zh-TW" dirty="0" smtClean="0"/>
              <a:t>Project Management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70822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Process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Civil / Structure / Building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Pressure Vessel / Machinery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Instrument / Control System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Piping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Electrical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Safety Engineering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Tools Application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solidFill>
                  <a:srgbClr val="7030A0"/>
                </a:solidFill>
                <a:ea typeface="華康中楷體" panose="02010609000101010101" pitchFamily="49" charset="-120"/>
              </a:rPr>
              <a:t>Codes and Standards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788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 -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Process</a:t>
            </a:r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 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85072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P&amp;ID for Process, Utilities, and Waste Water Treatment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Equipment Data Sheets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Instrument Data Sheets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Line List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Safety Interlock System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Catalyst &amp; Chemical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328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 </a:t>
            </a:r>
            <a:r>
              <a:rPr lang="en-US" altLang="zh-TW" sz="3600" dirty="0" smtClean="0">
                <a:latin typeface="+mn-lt"/>
                <a:ea typeface="華康中楷體" panose="02010609000101010101" pitchFamily="49" charset="-120"/>
              </a:rPr>
              <a:t>–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CVL/STR/ARCH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Specification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Soil Investigation Report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Site Preparation and Improvement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Paving, Road, Drainage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RC Structure vs. Steel Structure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Architecture &amp; Building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Landscape  </a:t>
            </a: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503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 </a:t>
            </a:r>
            <a:r>
              <a:rPr lang="en-US" altLang="zh-TW" sz="36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-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Equipment</a:t>
            </a:r>
            <a:r>
              <a:rPr lang="en-US" altLang="zh-TW" sz="36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 </a:t>
            </a:r>
            <a:endParaRPr lang="zh-TW" altLang="en-US" sz="3600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Specifications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Requisition / Technical Bid Evaluation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Engineering Drawings for Pressure Vessels and Tanks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Vendor drawing review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Shop inspection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00807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 </a:t>
            </a:r>
            <a:r>
              <a:rPr lang="en-US" altLang="zh-TW" sz="36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–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Instrument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83213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Specifications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Plant Automation System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Requisitions / Technical Bid Evaluation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Layout of Control Room / Rack Room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Instrument Cable Layout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Hook-up Drawings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Vendor drawing review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DCS FAT / SAT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Shop inspection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771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 </a:t>
            </a:r>
            <a:r>
              <a:rPr lang="en-US" altLang="zh-TW" sz="36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-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Piping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Specifications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Plot Plan / Equipment Layout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Piping Layout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3D Model / Model </a:t>
            </a:r>
            <a:r>
              <a:rPr lang="en-US" altLang="zh-TW" dirty="0" smtClean="0">
                <a:ea typeface="華康中楷體" panose="02010609000101010101" pitchFamily="49" charset="-120"/>
              </a:rPr>
              <a:t>Review </a:t>
            </a:r>
            <a:r>
              <a:rPr lang="en-US" altLang="zh-TW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(30%, 60%, 90%)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Stress Analysis / Pipe Support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Requisition / Technical Bid Evaluation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Vendor drawing review </a:t>
            </a: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3145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 -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Electrical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Specifications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One-line Diagram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Main Substation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Motor Control Center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Requisition / Technical Bid Evaluation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Vendor drawing review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Shop inspection</a:t>
            </a: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3699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 -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HSE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Safety Engineering</a:t>
            </a:r>
          </a:p>
          <a:p>
            <a:pPr marL="52920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TW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-	Fire Protection, Hazardous Area Classification</a:t>
            </a: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, </a:t>
            </a:r>
            <a:r>
              <a:rPr lang="en-US" altLang="zh-TW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etc.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Environment and Health Engineering</a:t>
            </a:r>
          </a:p>
          <a:p>
            <a:pPr marL="52920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-</a:t>
            </a:r>
            <a:r>
              <a:rPr lang="en-US" altLang="zh-TW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	Waste Management and Human Factor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Noise Engineering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HSE Review</a:t>
            </a:r>
          </a:p>
          <a:p>
            <a:pPr marL="87210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EIA (Environmental Impact Assessment),</a:t>
            </a:r>
          </a:p>
          <a:p>
            <a:pPr marL="87210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ENVID (Environment Impact Identification</a:t>
            </a: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),</a:t>
            </a:r>
          </a:p>
          <a:p>
            <a:pPr marL="87210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QRA (Quantitative Risk Assessment),  </a:t>
            </a:r>
          </a:p>
          <a:p>
            <a:pPr marL="87210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HAZID (Hazard Identification Risk Analysis), </a:t>
            </a:r>
          </a:p>
          <a:p>
            <a:pPr marL="87210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HRA (Health Risk Assessment)</a:t>
            </a:r>
          </a:p>
          <a:p>
            <a:pPr marL="87210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HAZOP (</a:t>
            </a:r>
            <a:r>
              <a:rPr lang="en-US" altLang="zh-TW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Hazard and Operability </a:t>
            </a: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Study)</a:t>
            </a:r>
          </a:p>
          <a:p>
            <a:pPr marL="87210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IPF (Instrumented Protective Function)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1308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 –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Tools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3D Model</a:t>
            </a:r>
          </a:p>
          <a:p>
            <a:pPr marL="8721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20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PDMS, </a:t>
            </a:r>
          </a:p>
          <a:p>
            <a:pPr marL="8721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20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PDS,</a:t>
            </a:r>
          </a:p>
          <a:p>
            <a:pPr marL="8721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20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Smartplant 3D</a:t>
            </a:r>
            <a:endParaRPr lang="en-US" altLang="zh-TW" sz="20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lnSpc>
                <a:spcPct val="90000"/>
              </a:lnSpc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Smartplant </a:t>
            </a:r>
            <a:r>
              <a:rPr lang="en-US" altLang="zh-TW" dirty="0">
                <a:ea typeface="華康中楷體" panose="02010609000101010101" pitchFamily="49" charset="-120"/>
              </a:rPr>
              <a:t>P&amp;ID</a:t>
            </a:r>
          </a:p>
          <a:p>
            <a:pPr marL="360000" indent="-432000">
              <a:lnSpc>
                <a:spcPct val="90000"/>
              </a:lnSpc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In Tools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AutoCAD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9255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Engineering Design –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Code &amp; STD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Local Regulations &amp; Standards</a:t>
            </a:r>
          </a:p>
          <a:p>
            <a:pPr marL="8721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CNS,</a:t>
            </a:r>
          </a:p>
          <a:p>
            <a:pPr marL="8721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zh-TW" altLang="en-US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各類場所消防安全設備設置標準</a:t>
            </a:r>
            <a:endParaRPr lang="en-US" altLang="zh-TW" sz="22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8721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zh-TW" altLang="en-US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建築技術規則</a:t>
            </a:r>
            <a:endParaRPr lang="en-US" altLang="zh-TW" sz="22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8721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zh-TW" altLang="en-US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鍋爐及壓力容器安全規則</a:t>
            </a:r>
            <a:endParaRPr lang="en-US" altLang="zh-TW" sz="22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8721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zh-TW" altLang="en-US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壓力容器安全檢查構造標準</a:t>
            </a:r>
            <a:endParaRPr lang="en-US" altLang="zh-TW" sz="22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International Codes &amp; Standards</a:t>
            </a:r>
          </a:p>
          <a:p>
            <a:pPr marL="52920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-	API</a:t>
            </a:r>
            <a:r>
              <a:rPr lang="en-US" altLang="zh-TW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, </a:t>
            </a: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TEMA, ASME, NFPA</a:t>
            </a:r>
            <a:r>
              <a:rPr lang="en-US" altLang="zh-TW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, </a:t>
            </a: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NEC, IN, etc.</a:t>
            </a:r>
            <a:endParaRPr lang="en-US" altLang="zh-TW" sz="22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06590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</a:t>
            </a:r>
          </a:p>
          <a:p>
            <a:r>
              <a:rPr lang="en-US" altLang="zh-TW" dirty="0"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sz="4000" b="1" dirty="0" smtClean="0">
                <a:solidFill>
                  <a:srgbClr val="FF0000"/>
                </a:solidFill>
              </a:rPr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 smtClean="0"/>
              <a:t>Pre-commissioning</a:t>
            </a:r>
          </a:p>
          <a:p>
            <a:r>
              <a:rPr lang="en-US" altLang="zh-TW" dirty="0" smtClean="0"/>
              <a:t>Commissioning </a:t>
            </a:r>
          </a:p>
          <a:p>
            <a:r>
              <a:rPr lang="en-US" altLang="zh-TW" dirty="0" smtClean="0"/>
              <a:t>Performance Test</a:t>
            </a:r>
          </a:p>
          <a:p>
            <a:r>
              <a:rPr lang="en-US" altLang="zh-TW" dirty="0" smtClean="0"/>
              <a:t>Project Management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850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Procurement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lnSpcReduction="10000"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Approved Vendor List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Requisition / Inquiry / Place Order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Payment Terms and Conditions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Vendor Document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Expediting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Inspection and Test</a:t>
            </a:r>
            <a:endParaRPr lang="en-US" altLang="zh-TW" sz="2800" dirty="0" smtClean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Delivery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Customs Clearance</a:t>
            </a: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2794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Procurement </a:t>
            </a:r>
            <a:r>
              <a:rPr lang="en-US" altLang="zh-TW" sz="32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Approved </a:t>
            </a:r>
            <a:r>
              <a:rPr lang="en-US" altLang="zh-TW" sz="36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Vendor List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Licensor </a:t>
            </a:r>
            <a:r>
              <a:rPr lang="en-US" altLang="zh-TW" dirty="0">
                <a:ea typeface="華康中楷體" panose="02010609000101010101" pitchFamily="49" charset="-120"/>
              </a:rPr>
              <a:t>N</a:t>
            </a:r>
            <a:r>
              <a:rPr lang="en-US" altLang="zh-TW" dirty="0" smtClean="0">
                <a:ea typeface="華康中楷體" panose="02010609000101010101" pitchFamily="49" charset="-120"/>
              </a:rPr>
              <a:t>ominated Vendor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Approved Vendor List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Potential Subcontractor List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67074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Procurement </a:t>
            </a:r>
            <a:r>
              <a:rPr lang="en-US" altLang="zh-TW" sz="32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– Requisition / PO 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Proprietary Equipment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Equipment</a:t>
            </a:r>
          </a:p>
          <a:p>
            <a:pPr marL="774900">
              <a:spcBef>
                <a:spcPts val="600"/>
              </a:spcBef>
              <a:buFontTx/>
              <a:buChar char="-"/>
            </a:pPr>
            <a:r>
              <a:rPr lang="en-US" altLang="zh-TW" sz="1600" dirty="0">
                <a:solidFill>
                  <a:srgbClr val="0070C0"/>
                </a:solidFill>
                <a:ea typeface="華康中楷體" panose="02010609000101010101" pitchFamily="49" charset="-120"/>
              </a:rPr>
              <a:t>Pressure Vessel</a:t>
            </a:r>
          </a:p>
          <a:p>
            <a:pPr marL="774900">
              <a:spcBef>
                <a:spcPts val="600"/>
              </a:spcBef>
              <a:buFontTx/>
              <a:buChar char="-"/>
            </a:pPr>
            <a:r>
              <a:rPr lang="en-US" altLang="zh-TW" sz="1600" dirty="0">
                <a:solidFill>
                  <a:srgbClr val="0070C0"/>
                </a:solidFill>
                <a:ea typeface="華康中楷體" panose="02010609000101010101" pitchFamily="49" charset="-120"/>
              </a:rPr>
              <a:t>Heat Exchangers</a:t>
            </a:r>
          </a:p>
          <a:p>
            <a:pPr marL="774900">
              <a:spcBef>
                <a:spcPts val="600"/>
              </a:spcBef>
              <a:buFontTx/>
              <a:buChar char="-"/>
            </a:pPr>
            <a:r>
              <a:rPr lang="en-US" altLang="zh-TW" sz="1600" dirty="0">
                <a:solidFill>
                  <a:srgbClr val="0070C0"/>
                </a:solidFill>
                <a:ea typeface="華康中楷體" panose="02010609000101010101" pitchFamily="49" charset="-120"/>
              </a:rPr>
              <a:t>Rotary Machine</a:t>
            </a:r>
          </a:p>
          <a:p>
            <a:pPr marL="774900">
              <a:spcBef>
                <a:spcPts val="600"/>
              </a:spcBef>
              <a:buFontTx/>
              <a:buChar char="-"/>
            </a:pPr>
            <a:r>
              <a:rPr lang="en-US" altLang="zh-TW" sz="16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Package</a:t>
            </a:r>
            <a:endParaRPr lang="en-US" altLang="zh-TW" sz="16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774900">
              <a:spcBef>
                <a:spcPts val="600"/>
              </a:spcBef>
              <a:buFontTx/>
              <a:buChar char="-"/>
            </a:pPr>
            <a:r>
              <a:rPr lang="en-US" altLang="zh-TW" sz="1600" dirty="0">
                <a:solidFill>
                  <a:srgbClr val="0070C0"/>
                </a:solidFill>
                <a:ea typeface="華康中楷體" panose="02010609000101010101" pitchFamily="49" charset="-120"/>
              </a:rPr>
              <a:t>Tanks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Spare Parts</a:t>
            </a:r>
            <a:endParaRPr lang="en-US" altLang="zh-TW" dirty="0">
              <a:ea typeface="華康中楷體" panose="02010609000101010101" pitchFamily="49" charset="-120"/>
            </a:endParaRPr>
          </a:p>
          <a:p>
            <a:pPr marL="774900">
              <a:spcBef>
                <a:spcPts val="600"/>
              </a:spcBef>
              <a:buFontTx/>
              <a:buChar char="-"/>
            </a:pPr>
            <a:r>
              <a:rPr lang="en-US" altLang="zh-TW" sz="1800" dirty="0">
                <a:solidFill>
                  <a:srgbClr val="0070C0"/>
                </a:solidFill>
                <a:ea typeface="華康中楷體" panose="02010609000101010101" pitchFamily="49" charset="-120"/>
              </a:rPr>
              <a:t>Construction / Commissioning Spare, Operating Spare, etc.,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Bulk Material</a:t>
            </a:r>
          </a:p>
          <a:p>
            <a:pPr marL="774900">
              <a:spcBef>
                <a:spcPts val="600"/>
              </a:spcBef>
              <a:buFontTx/>
              <a:buChar char="-"/>
            </a:pPr>
            <a:r>
              <a:rPr lang="en-US" altLang="zh-TW" sz="1800" dirty="0">
                <a:solidFill>
                  <a:srgbClr val="0070C0"/>
                </a:solidFill>
                <a:ea typeface="華康中楷體" panose="02010609000101010101" pitchFamily="49" charset="-120"/>
              </a:rPr>
              <a:t>Net Quantity + Allowance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Catalyst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Chemicals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Subcontracting Construction Work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dirty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9824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Procurement </a:t>
            </a:r>
            <a:r>
              <a:rPr lang="en-US" altLang="zh-TW" sz="32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Terms and Condition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Performance Bond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Down Payment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Progress Payment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Warranty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Delay Penalty</a:t>
            </a: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7682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Procurement </a:t>
            </a:r>
            <a:r>
              <a:rPr lang="en-US" altLang="zh-TW" sz="32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Vendor Document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Specifications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Manufacturing Schedule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General Assembly Drawings</a:t>
            </a: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Material Certificate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Operation Manual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WPS &amp; PQR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Inspection and Test Plan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Performance Test Report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Maintenance Manual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Tools and Spare Parts</a:t>
            </a: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8265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Procurement </a:t>
            </a:r>
            <a:r>
              <a:rPr lang="en-US" altLang="zh-TW" sz="32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Expediting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Equipment Criticality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Residential Expediting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Desk Expediting</a:t>
            </a:r>
          </a:p>
          <a:p>
            <a:pPr marL="360000" indent="-432000">
              <a:spcBef>
                <a:spcPts val="600"/>
              </a:spcBef>
            </a:pP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4718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Procurement </a:t>
            </a:r>
            <a:r>
              <a:rPr lang="en-US" altLang="zh-TW" sz="32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Inspection and Test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Inspection Level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Inspection and Test Plan (ITP)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Pre-Inspection Meeting (PIM)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Performance Test (FAT / SAT)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Positive Material Identification (PMI)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Welding Procedure Specification (WPS) 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Procedure Qualification Record (PQR)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04762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Procurement </a:t>
            </a:r>
            <a:r>
              <a:rPr lang="en-US" altLang="zh-TW" sz="32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Customs Clearance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Consignee vs. Consignor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Importing Duty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Tax Exemption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      -	How to maximize Tax Exemption?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64513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Procurement </a:t>
            </a:r>
            <a:r>
              <a:rPr lang="en-US" altLang="zh-TW" sz="3200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Delivery</a:t>
            </a:r>
            <a:endParaRPr lang="zh-TW" altLang="en-US" sz="36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EXW (Ex Work,</a:t>
            </a:r>
            <a:r>
              <a:rPr lang="zh-TW" altLang="en-US" dirty="0">
                <a:ea typeface="華康中楷體" panose="02010609000101010101" pitchFamily="49" charset="-120"/>
              </a:rPr>
              <a:t>工廠</a:t>
            </a:r>
            <a:r>
              <a:rPr lang="zh-TW" altLang="en-US" dirty="0" smtClean="0">
                <a:ea typeface="華康中楷體" panose="02010609000101010101" pitchFamily="49" charset="-120"/>
              </a:rPr>
              <a:t>交貨</a:t>
            </a:r>
            <a:r>
              <a:rPr lang="en-US" altLang="zh-TW" dirty="0" smtClean="0">
                <a:ea typeface="華康中楷體" panose="02010609000101010101" pitchFamily="49" charset="-120"/>
              </a:rPr>
              <a:t>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FOB (Free on Board, </a:t>
            </a:r>
            <a:r>
              <a:rPr lang="zh-TW" altLang="en-US" dirty="0" smtClean="0">
                <a:ea typeface="華康中楷體" panose="02010609000101010101" pitchFamily="49" charset="-120"/>
              </a:rPr>
              <a:t>裝運</a:t>
            </a:r>
            <a:r>
              <a:rPr lang="zh-TW" altLang="en-US" dirty="0">
                <a:ea typeface="華康中楷體" panose="02010609000101010101" pitchFamily="49" charset="-120"/>
              </a:rPr>
              <a:t>港船上</a:t>
            </a:r>
            <a:r>
              <a:rPr lang="zh-TW" altLang="en-US" dirty="0" smtClean="0">
                <a:ea typeface="華康中楷體" panose="02010609000101010101" pitchFamily="49" charset="-120"/>
              </a:rPr>
              <a:t>交貨</a:t>
            </a:r>
            <a:r>
              <a:rPr lang="en-US" altLang="zh-TW" dirty="0" smtClean="0">
                <a:ea typeface="華康中楷體" panose="02010609000101010101" pitchFamily="49" charset="-120"/>
              </a:rPr>
              <a:t>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CIF (</a:t>
            </a:r>
            <a:r>
              <a:rPr lang="en-US" altLang="zh-TW" dirty="0" smtClean="0">
                <a:ea typeface="華康中楷體" panose="02010609000101010101" pitchFamily="49" charset="-120"/>
              </a:rPr>
              <a:t>Cost, Insurance, and Freight,</a:t>
            </a:r>
            <a:r>
              <a:rPr lang="zh-TW" altLang="en-US" dirty="0">
                <a:ea typeface="華康中楷體" panose="02010609000101010101" pitchFamily="49" charset="-120"/>
              </a:rPr>
              <a:t>成本加保險費、</a:t>
            </a:r>
            <a:r>
              <a:rPr lang="zh-TW" altLang="en-US" dirty="0" smtClean="0">
                <a:ea typeface="華康中楷體" panose="02010609000101010101" pitchFamily="49" charset="-120"/>
              </a:rPr>
              <a:t>運費</a:t>
            </a:r>
            <a:r>
              <a:rPr lang="en-US" altLang="zh-TW" dirty="0" smtClean="0">
                <a:ea typeface="華康中楷體" panose="02010609000101010101" pitchFamily="49" charset="-120"/>
              </a:rPr>
              <a:t>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DES (Delivered Ex Ship, </a:t>
            </a:r>
            <a:r>
              <a:rPr lang="zh-TW" altLang="en-US" dirty="0" smtClean="0">
                <a:ea typeface="華康中楷體" panose="02010609000101010101" pitchFamily="49" charset="-120"/>
              </a:rPr>
              <a:t>目的</a:t>
            </a:r>
            <a:r>
              <a:rPr lang="zh-TW" altLang="en-US" dirty="0">
                <a:ea typeface="華康中楷體" panose="02010609000101010101" pitchFamily="49" charset="-120"/>
              </a:rPr>
              <a:t>港船上</a:t>
            </a:r>
            <a:r>
              <a:rPr lang="zh-TW" altLang="en-US" dirty="0" smtClean="0">
                <a:ea typeface="華康中楷體" panose="02010609000101010101" pitchFamily="49" charset="-120"/>
              </a:rPr>
              <a:t>交貨</a:t>
            </a:r>
            <a:r>
              <a:rPr lang="en-US" altLang="zh-TW" dirty="0" smtClean="0">
                <a:ea typeface="華康中楷體" panose="02010609000101010101" pitchFamily="49" charset="-120"/>
              </a:rPr>
              <a:t>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Logistics</a:t>
            </a: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9057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</a:t>
            </a:r>
          </a:p>
          <a:p>
            <a:r>
              <a:rPr lang="en-US" altLang="zh-TW" dirty="0"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sz="4000" b="1" dirty="0" smtClean="0">
                <a:solidFill>
                  <a:srgbClr val="FF0000"/>
                </a:solidFill>
              </a:rPr>
              <a:t>Construction</a:t>
            </a:r>
          </a:p>
          <a:p>
            <a:r>
              <a:rPr lang="en-US" altLang="zh-TW" dirty="0" smtClean="0"/>
              <a:t>Pre-commissioning</a:t>
            </a:r>
          </a:p>
          <a:p>
            <a:r>
              <a:rPr lang="en-US" altLang="zh-TW" dirty="0" smtClean="0"/>
              <a:t>Commissioning </a:t>
            </a:r>
          </a:p>
          <a:p>
            <a:r>
              <a:rPr lang="en-US" altLang="zh-TW" dirty="0" smtClean="0"/>
              <a:t>Performance Test</a:t>
            </a:r>
          </a:p>
          <a:p>
            <a:r>
              <a:rPr lang="en-US" altLang="zh-TW" dirty="0" smtClean="0"/>
              <a:t>Project Management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850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Construction</a:t>
            </a:r>
            <a:endParaRPr lang="zh-TW" altLang="en-US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Constructability Review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Temporary Facilities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Subcontracting Plan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Construction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Rigging Plan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Health, Safety, Security, Environment (HSSE)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QC Report</a:t>
            </a: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3175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Construction -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Constructability</a:t>
            </a:r>
            <a:endParaRPr lang="zh-TW" altLang="en-US" sz="32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sz="3500" dirty="0" smtClean="0">
                <a:ea typeface="華康中楷體" panose="02010609000101010101" pitchFamily="49" charset="-120"/>
              </a:rPr>
              <a:t>Review engineering design from construction point of view</a:t>
            </a: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17012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Construction -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Construction</a:t>
            </a:r>
            <a:endParaRPr lang="zh-TW" altLang="en-US" sz="32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Civil (Site preparation + Civil Work)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Steel Structure Prefabrication + Installation</a:t>
            </a:r>
            <a:endParaRPr lang="en-US" altLang="zh-TW" dirty="0" smtClean="0">
              <a:solidFill>
                <a:srgbClr val="00B0F0"/>
              </a:solidFill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Equipment Installation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Piping Prefabrication + Installation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Electrical / Instrument installation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Painting / Insulation</a:t>
            </a: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42298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Construction 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Rigging Plan</a:t>
            </a:r>
            <a:endParaRPr lang="zh-TW" altLang="en-US" sz="32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solidFill>
                  <a:srgbClr val="7030A0"/>
                </a:solidFill>
                <a:ea typeface="華康中楷體" panose="02010609000101010101" pitchFamily="49" charset="-120"/>
              </a:rPr>
              <a:t>Rigging Plan  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9552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Construction 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HSSE</a:t>
            </a:r>
            <a:endParaRPr lang="zh-TW" altLang="en-US" sz="32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HSSE: 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Health, 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Safety, 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Security, 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Environment</a:t>
            </a: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4988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Construction – </a:t>
            </a:r>
            <a:r>
              <a:rPr lang="en-US" altLang="zh-TW" sz="3200" u="sng" dirty="0" smtClean="0">
                <a:solidFill>
                  <a:srgbClr val="FF0000"/>
                </a:solidFill>
                <a:latin typeface="+mn-lt"/>
                <a:ea typeface="華康中楷體" panose="02010609000101010101" pitchFamily="49" charset="-120"/>
              </a:rPr>
              <a:t>QC</a:t>
            </a:r>
            <a:endParaRPr lang="zh-TW" altLang="en-US" sz="3200" u="sng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Test Report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Piling Test - Pile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Strength Test - RC  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Pressure Test – Piping work, Pressure Vessel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NDE – Welding point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Loop Test - Instrument</a:t>
            </a:r>
          </a:p>
          <a:p>
            <a:pPr marL="889200" lvl="1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Running Test - Motor</a:t>
            </a:r>
          </a:p>
          <a:p>
            <a:endParaRPr lang="zh-TW" altLang="en-US" sz="1900" dirty="0">
              <a:solidFill>
                <a:srgbClr val="0070C0"/>
              </a:solidFill>
              <a:ea typeface="華康中楷體" panose="02010609000101010101" pitchFamily="49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3297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 smtClean="0"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 </a:t>
            </a:r>
          </a:p>
          <a:p>
            <a:r>
              <a:rPr lang="en-US" altLang="zh-TW" dirty="0"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 smtClean="0"/>
              <a:t>Hand-over / Start-up</a:t>
            </a:r>
          </a:p>
          <a:p>
            <a:r>
              <a:rPr lang="en-US" altLang="zh-TW" sz="4000" b="1" dirty="0" smtClean="0">
                <a:solidFill>
                  <a:srgbClr val="FF0000"/>
                </a:solidFill>
              </a:rPr>
              <a:t>Pre-commissioning</a:t>
            </a:r>
          </a:p>
          <a:p>
            <a:r>
              <a:rPr lang="en-US" altLang="zh-TW" dirty="0"/>
              <a:t>Commissioning </a:t>
            </a:r>
          </a:p>
          <a:p>
            <a:r>
              <a:rPr lang="en-US" altLang="zh-TW" dirty="0" smtClean="0"/>
              <a:t>Performance Test </a:t>
            </a:r>
          </a:p>
          <a:p>
            <a:r>
              <a:rPr lang="en-US" altLang="zh-TW" dirty="0" smtClean="0"/>
              <a:t>Project Management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373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Pre-commissioning </a:t>
            </a:r>
            <a:endParaRPr lang="zh-TW" altLang="en-US" sz="3200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Conformity Check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Static, de-energized test</a:t>
            </a:r>
          </a:p>
          <a:p>
            <a:pPr marL="889200" indent="-3600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>
                <a:solidFill>
                  <a:srgbClr val="0070C0"/>
                </a:solidFill>
                <a:ea typeface="華康中楷體" panose="02010609000101010101" pitchFamily="49" charset="-120"/>
              </a:rPr>
              <a:t>Machinery cold </a:t>
            </a: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alignment</a:t>
            </a:r>
          </a:p>
          <a:p>
            <a:pPr marL="889200" indent="-3600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Instrument calibration</a:t>
            </a:r>
          </a:p>
          <a:p>
            <a:pPr marL="889200" indent="-3600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Conventional line cleaning (air blowing, water flushing, steam blowing) and reinstatement</a:t>
            </a:r>
          </a:p>
          <a:p>
            <a:pPr marL="889200" indent="-3600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Special line cleaning, such as chemical cleaning, lube oil flushing, hydro blasting, sand blasting</a:t>
            </a:r>
          </a:p>
          <a:p>
            <a:pPr marL="889200" indent="-3600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Air leak test and utility service test</a:t>
            </a:r>
          </a:p>
          <a:p>
            <a:pPr marL="889200" indent="-360000">
              <a:lnSpc>
                <a:spcPct val="110000"/>
              </a:lnSpc>
              <a:spcBef>
                <a:spcPts val="600"/>
              </a:spcBef>
              <a:buFontTx/>
              <a:buChar char="-"/>
            </a:pPr>
            <a:r>
              <a:rPr lang="en-US" altLang="zh-TW" sz="22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Cable continuity and insulation integrity test</a:t>
            </a: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Equipment cleaning, final box up and preservation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Low energy test such as energized loop test and LV motor solo run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4401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 </a:t>
            </a:r>
          </a:p>
          <a:p>
            <a:r>
              <a:rPr lang="en-US" altLang="zh-TW" dirty="0"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/>
              <a:t>Pre-commissioning</a:t>
            </a:r>
          </a:p>
          <a:p>
            <a:r>
              <a:rPr lang="en-US" altLang="zh-TW" sz="4000" b="1" dirty="0">
                <a:solidFill>
                  <a:srgbClr val="FF0000"/>
                </a:solidFill>
              </a:rPr>
              <a:t>Commissioning </a:t>
            </a:r>
          </a:p>
          <a:p>
            <a:r>
              <a:rPr lang="en-US" altLang="zh-TW" dirty="0" smtClean="0"/>
              <a:t>Performance Test </a:t>
            </a:r>
          </a:p>
          <a:p>
            <a:r>
              <a:rPr lang="en-US" altLang="zh-TW" dirty="0" smtClean="0"/>
              <a:t>Project Management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7691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+mn-lt"/>
                <a:ea typeface="華康中楷體" panose="02010609000101010101" pitchFamily="49" charset="-120"/>
              </a:rPr>
              <a:t>C</a:t>
            </a:r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ommissioning </a:t>
            </a:r>
            <a:endParaRPr lang="zh-TW" altLang="en-US" sz="3200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Preliminary checks in preparation for commissioning execution (PSSR)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Substation and electrical network energization</a:t>
            </a: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Instrument/electrical functional </a:t>
            </a:r>
            <a:r>
              <a:rPr lang="en-US" altLang="zh-TW" dirty="0" smtClean="0">
                <a:ea typeface="華康中楷體" panose="02010609000101010101" pitchFamily="49" charset="-120"/>
              </a:rPr>
              <a:t>tests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Rotating equipment run in (w/inert fluid)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High pressure leak test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Inerting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Catalyst and chemical (first fill) loading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Refractory drying out of furnaces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Dry out/boil out and steam blowing of boilers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Commissioning and service testing of utilities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Passivation of cooling water network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Catalyst and reactor loop drying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5748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</a:t>
            </a:r>
          </a:p>
          <a:p>
            <a:r>
              <a:rPr lang="en-US" altLang="zh-TW" dirty="0"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 smtClean="0"/>
              <a:t>Pre-commissioning</a:t>
            </a:r>
          </a:p>
          <a:p>
            <a:r>
              <a:rPr lang="en-US" altLang="zh-TW" dirty="0" smtClean="0"/>
              <a:t>Commissioning </a:t>
            </a:r>
          </a:p>
          <a:p>
            <a:r>
              <a:rPr lang="en-US" altLang="zh-TW" sz="4000" b="1" dirty="0" smtClean="0">
                <a:solidFill>
                  <a:srgbClr val="FF0000"/>
                </a:solidFill>
              </a:rPr>
              <a:t>Performance Test</a:t>
            </a:r>
          </a:p>
          <a:p>
            <a:r>
              <a:rPr lang="en-US" altLang="zh-TW" dirty="0"/>
              <a:t>Project Management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850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Performance Test </a:t>
            </a:r>
            <a:endParaRPr lang="zh-TW" altLang="en-US" sz="3200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Feedstock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Utilities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Stable Running </a:t>
            </a:r>
          </a:p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Performance Test</a:t>
            </a: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9425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ea typeface="華康中楷體" panose="02010609000101010101" pitchFamily="49" charset="-120"/>
              </a:rPr>
              <a:t>Invitation to Bid (ITB)</a:t>
            </a:r>
          </a:p>
          <a:p>
            <a:r>
              <a:rPr lang="en-US" altLang="zh-TW" dirty="0" smtClean="0">
                <a:ea typeface="華康中楷體" panose="02010609000101010101" pitchFamily="49" charset="-120"/>
              </a:rPr>
              <a:t>Budget</a:t>
            </a:r>
          </a:p>
          <a:p>
            <a:r>
              <a:rPr lang="en-US" altLang="zh-TW" dirty="0">
                <a:ea typeface="華康中楷體" panose="02010609000101010101" pitchFamily="49" charset="-120"/>
              </a:rPr>
              <a:t>Planning</a:t>
            </a:r>
          </a:p>
          <a:p>
            <a:r>
              <a:rPr lang="en-US" altLang="zh-TW" dirty="0" smtClean="0"/>
              <a:t>Engineering </a:t>
            </a:r>
          </a:p>
          <a:p>
            <a:r>
              <a:rPr lang="en-US" altLang="zh-TW" dirty="0" smtClean="0"/>
              <a:t>Procurement</a:t>
            </a:r>
          </a:p>
          <a:p>
            <a:r>
              <a:rPr lang="en-US" altLang="zh-TW" dirty="0" smtClean="0"/>
              <a:t>Construction</a:t>
            </a:r>
          </a:p>
          <a:p>
            <a:r>
              <a:rPr lang="en-US" altLang="zh-TW" dirty="0" smtClean="0"/>
              <a:t>Pre-commissioning</a:t>
            </a:r>
          </a:p>
          <a:p>
            <a:r>
              <a:rPr lang="en-US" altLang="zh-TW" dirty="0" smtClean="0"/>
              <a:t>Commissioning </a:t>
            </a:r>
          </a:p>
          <a:p>
            <a:r>
              <a:rPr lang="en-US" altLang="zh-TW" dirty="0"/>
              <a:t>Performance Test</a:t>
            </a:r>
          </a:p>
          <a:p>
            <a:r>
              <a:rPr lang="en-US" altLang="zh-TW" sz="4000" b="1" dirty="0">
                <a:solidFill>
                  <a:srgbClr val="FF0000"/>
                </a:solidFill>
              </a:rPr>
              <a:t>Project Management</a:t>
            </a:r>
            <a:endParaRPr lang="zh-TW" altLang="en-US" sz="4000" b="1" dirty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48943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n-lt"/>
                <a:ea typeface="華康中楷體" panose="02010609000101010101" pitchFamily="49" charset="-120"/>
              </a:rPr>
              <a:t>Project Management</a:t>
            </a:r>
            <a:endParaRPr lang="zh-TW" altLang="en-US" sz="3200" dirty="0">
              <a:solidFill>
                <a:srgbClr val="FF0000"/>
              </a:solidFill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11349"/>
            <a:ext cx="8229600" cy="4525963"/>
          </a:xfrm>
        </p:spPr>
        <p:txBody>
          <a:bodyPr>
            <a:normAutofit/>
          </a:bodyPr>
          <a:lstStyle/>
          <a:p>
            <a:pPr marL="360000" indent="-432000"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Tools Application</a:t>
            </a:r>
          </a:p>
          <a:p>
            <a:pPr marL="889200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Primavera P6 : Schedule Control</a:t>
            </a:r>
          </a:p>
          <a:p>
            <a:pPr marL="889200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WINPCS</a:t>
            </a: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 </a:t>
            </a:r>
            <a:r>
              <a:rPr lang="en-US" altLang="zh-TW" sz="19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: Turn over control</a:t>
            </a:r>
          </a:p>
          <a:p>
            <a:pPr marL="889200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SPF-TDC : Document Management</a:t>
            </a:r>
          </a:p>
          <a:p>
            <a:pPr marL="360000" indent="-432000">
              <a:lnSpc>
                <a:spcPct val="90000"/>
              </a:lnSpc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Progress Measurement</a:t>
            </a:r>
          </a:p>
          <a:p>
            <a:pPr marL="889200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Earned value</a:t>
            </a:r>
          </a:p>
          <a:p>
            <a:pPr marL="889200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Appraisal </a:t>
            </a: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guide</a:t>
            </a:r>
          </a:p>
          <a:p>
            <a:pPr marL="360000" indent="-432000">
              <a:lnSpc>
                <a:spcPct val="90000"/>
              </a:lnSpc>
              <a:spcBef>
                <a:spcPts val="600"/>
              </a:spcBef>
            </a:pPr>
            <a:r>
              <a:rPr lang="en-US" altLang="zh-TW" dirty="0" smtClean="0">
                <a:ea typeface="華康中楷體" panose="02010609000101010101" pitchFamily="49" charset="-120"/>
              </a:rPr>
              <a:t>Reporting</a:t>
            </a:r>
          </a:p>
          <a:p>
            <a:pPr marL="889200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Weekly Progress Report</a:t>
            </a:r>
          </a:p>
          <a:p>
            <a:pPr marL="889200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altLang="zh-TW" sz="1900" dirty="0">
                <a:solidFill>
                  <a:srgbClr val="0070C0"/>
                </a:solidFill>
                <a:ea typeface="華康中楷體" panose="02010609000101010101" pitchFamily="49" charset="-120"/>
              </a:rPr>
              <a:t>Monthly Progress </a:t>
            </a:r>
            <a:r>
              <a:rPr lang="en-US" altLang="zh-TW" sz="1900" dirty="0" smtClean="0">
                <a:solidFill>
                  <a:srgbClr val="0070C0"/>
                </a:solidFill>
                <a:ea typeface="華康中楷體" panose="02010609000101010101" pitchFamily="49" charset="-120"/>
              </a:rPr>
              <a:t>Report</a:t>
            </a:r>
          </a:p>
          <a:p>
            <a:pPr marL="360000" indent="-432000">
              <a:lnSpc>
                <a:spcPct val="90000"/>
              </a:lnSpc>
              <a:spcBef>
                <a:spcPts val="600"/>
              </a:spcBef>
            </a:pPr>
            <a:r>
              <a:rPr lang="en-US" altLang="zh-TW" dirty="0">
                <a:ea typeface="華康中楷體" panose="02010609000101010101" pitchFamily="49" charset="-120"/>
              </a:rPr>
              <a:t>Data Book</a:t>
            </a:r>
          </a:p>
          <a:p>
            <a:pPr marL="889200" indent="-36000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endParaRPr lang="en-US" altLang="zh-TW" sz="1900" dirty="0">
              <a:solidFill>
                <a:srgbClr val="0070C0"/>
              </a:solidFill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sz="3500" dirty="0" smtClean="0">
              <a:ea typeface="華康中楷體" panose="02010609000101010101" pitchFamily="49" charset="-12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ea typeface="華康中楷體" panose="02010609000101010101" pitchFamily="49" charset="-120"/>
            </a:endParaRPr>
          </a:p>
          <a:p>
            <a:pPr marL="360000" indent="-432000">
              <a:spcBef>
                <a:spcPts val="600"/>
              </a:spcBef>
            </a:pPr>
            <a:endParaRPr lang="en-US" altLang="zh-TW" dirty="0" smtClean="0">
              <a:latin typeface="華康中楷體" panose="02010609000101010101" pitchFamily="49" charset="-120"/>
              <a:ea typeface="華康中楷體" panose="02010609000101010101" pitchFamily="49" charset="-12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43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683568" y="332712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TW" sz="5400" b="1" dirty="0" smtClean="0">
                <a:latin typeface="+mn-lt"/>
                <a:ea typeface="華康中楷體" panose="02010609000101010101" pitchFamily="49" charset="-120"/>
              </a:rPr>
              <a:t>Thank you!</a:t>
            </a:r>
            <a:endParaRPr lang="zh-TW" altLang="en-US" sz="5400" b="1" dirty="0">
              <a:latin typeface="+mn-lt"/>
              <a:ea typeface="華康中楷體" panose="02010609000101010101" pitchFamily="49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1666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9356</TotalTime>
  <Words>1626</Words>
  <Application>Microsoft Office PowerPoint</Application>
  <PresentationFormat>如螢幕大小 (4:3)</PresentationFormat>
  <Paragraphs>813</Paragraphs>
  <Slides>57</Slides>
  <Notes>45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57</vt:i4>
      </vt:variant>
    </vt:vector>
  </HeadingPairs>
  <TitlesOfParts>
    <vt:vector size="59" baseType="lpstr">
      <vt:lpstr>Office 佈景主題</vt:lpstr>
      <vt:lpstr>自訂設計</vt:lpstr>
      <vt:lpstr>化工廠建廠籌備執行實務</vt:lpstr>
      <vt:lpstr>Project Life</vt:lpstr>
      <vt:lpstr>專案管理知識體</vt:lpstr>
      <vt:lpstr>Agenda</vt:lpstr>
      <vt:lpstr>Agenda</vt:lpstr>
      <vt:lpstr>Invitation to Bid</vt:lpstr>
      <vt:lpstr>Agenda</vt:lpstr>
      <vt:lpstr>Budget</vt:lpstr>
      <vt:lpstr>Agenda</vt:lpstr>
      <vt:lpstr>Planning</vt:lpstr>
      <vt:lpstr>Contract Type</vt:lpstr>
      <vt:lpstr>Process Unit (ISBL)</vt:lpstr>
      <vt:lpstr>Supporting Facilities </vt:lpstr>
      <vt:lpstr>Permit Application</vt:lpstr>
      <vt:lpstr>Project Schedule </vt:lpstr>
      <vt:lpstr>Engineering / Procure. / Constr. / Comm.</vt:lpstr>
      <vt:lpstr>Temporary Facilities</vt:lpstr>
      <vt:lpstr>Tie-in to Existing Systems</vt:lpstr>
      <vt:lpstr>Transportation Route</vt:lpstr>
      <vt:lpstr>Insurance Policy</vt:lpstr>
      <vt:lpstr>Agenda</vt:lpstr>
      <vt:lpstr>Engineering Design</vt:lpstr>
      <vt:lpstr>Engineering Design - Process </vt:lpstr>
      <vt:lpstr>Engineering Design – CVL/STR/ARCH</vt:lpstr>
      <vt:lpstr>Engineering Design - Equipment </vt:lpstr>
      <vt:lpstr>Engineering Design – Instrument</vt:lpstr>
      <vt:lpstr>Engineering Design - Piping</vt:lpstr>
      <vt:lpstr>Engineering Design - Electrical</vt:lpstr>
      <vt:lpstr>Engineering Design - HSE</vt:lpstr>
      <vt:lpstr>Engineering Design – Tools</vt:lpstr>
      <vt:lpstr>Engineering Design – Code &amp; STD</vt:lpstr>
      <vt:lpstr>Agenda</vt:lpstr>
      <vt:lpstr>Procurement</vt:lpstr>
      <vt:lpstr>Procurement – Approved Vendor List</vt:lpstr>
      <vt:lpstr>Procurement – Requisition / PO </vt:lpstr>
      <vt:lpstr>Procurement – Terms and Condition</vt:lpstr>
      <vt:lpstr>Procurement – Vendor Document</vt:lpstr>
      <vt:lpstr>Procurement – Expediting</vt:lpstr>
      <vt:lpstr>Procurement – Inspection and Test</vt:lpstr>
      <vt:lpstr>Procurement – Customs Clearance</vt:lpstr>
      <vt:lpstr>Procurement – Delivery</vt:lpstr>
      <vt:lpstr>Agenda</vt:lpstr>
      <vt:lpstr>Construction</vt:lpstr>
      <vt:lpstr>Construction - Constructability</vt:lpstr>
      <vt:lpstr>Construction - Construction</vt:lpstr>
      <vt:lpstr>Construction – Rigging Plan</vt:lpstr>
      <vt:lpstr>Construction – HSSE</vt:lpstr>
      <vt:lpstr>Construction – QC</vt:lpstr>
      <vt:lpstr>Agenda</vt:lpstr>
      <vt:lpstr>Pre-commissioning </vt:lpstr>
      <vt:lpstr>Agenda</vt:lpstr>
      <vt:lpstr>Commissioning </vt:lpstr>
      <vt:lpstr>Agenda</vt:lpstr>
      <vt:lpstr>Performance Test </vt:lpstr>
      <vt:lpstr>Agenda</vt:lpstr>
      <vt:lpstr>Project Management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21657</cp:lastModifiedBy>
  <cp:revision>153</cp:revision>
  <cp:lastPrinted>2014-06-19T03:17:50Z</cp:lastPrinted>
  <dcterms:created xsi:type="dcterms:W3CDTF">2014-03-12T03:54:03Z</dcterms:created>
  <dcterms:modified xsi:type="dcterms:W3CDTF">2014-06-19T07:30:16Z</dcterms:modified>
</cp:coreProperties>
</file>