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77050" cy="965676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516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0055" cy="482838"/>
          </a:xfrm>
          <a:prstGeom prst="rect">
            <a:avLst/>
          </a:prstGeom>
        </p:spPr>
        <p:txBody>
          <a:bodyPr vert="horz" lIns="94476" tIns="47238" rIns="94476" bIns="47238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95404" y="0"/>
            <a:ext cx="2980055" cy="482838"/>
          </a:xfrm>
          <a:prstGeom prst="rect">
            <a:avLst/>
          </a:prstGeom>
        </p:spPr>
        <p:txBody>
          <a:bodyPr vert="horz" lIns="94476" tIns="47238" rIns="94476" bIns="47238" rtlCol="0"/>
          <a:lstStyle>
            <a:lvl1pPr algn="r">
              <a:defRPr sz="1200"/>
            </a:lvl1pPr>
          </a:lstStyle>
          <a:p>
            <a:fld id="{47DA83E9-2108-4C7B-BA82-8AE25805E150}" type="datetimeFigureOut">
              <a:rPr lang="zh-TW" altLang="en-US" smtClean="0"/>
              <a:t>2014/5/7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723900"/>
            <a:ext cx="4826000" cy="3621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6" tIns="47238" rIns="94476" bIns="47238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7705" y="4586963"/>
            <a:ext cx="5501640" cy="4345543"/>
          </a:xfrm>
          <a:prstGeom prst="rect">
            <a:avLst/>
          </a:prstGeom>
        </p:spPr>
        <p:txBody>
          <a:bodyPr vert="horz" lIns="94476" tIns="47238" rIns="94476" bIns="47238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172249"/>
            <a:ext cx="2980055" cy="482838"/>
          </a:xfrm>
          <a:prstGeom prst="rect">
            <a:avLst/>
          </a:prstGeom>
        </p:spPr>
        <p:txBody>
          <a:bodyPr vert="horz" lIns="94476" tIns="47238" rIns="94476" bIns="47238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95404" y="9172249"/>
            <a:ext cx="2980055" cy="482838"/>
          </a:xfrm>
          <a:prstGeom prst="rect">
            <a:avLst/>
          </a:prstGeom>
        </p:spPr>
        <p:txBody>
          <a:bodyPr vert="horz" lIns="94476" tIns="47238" rIns="94476" bIns="47238" rtlCol="0" anchor="b"/>
          <a:lstStyle>
            <a:lvl1pPr algn="r">
              <a:defRPr sz="1200"/>
            </a:lvl1pPr>
          </a:lstStyle>
          <a:p>
            <a:fld id="{8763B3C3-F4FA-4D0E-B4CA-45799AE0E5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168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8582F1-FD72-4193-8696-B451B631646D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107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725488"/>
            <a:ext cx="4826000" cy="3619500"/>
          </a:xfrm>
          <a:ln/>
        </p:spPr>
      </p:sp>
      <p:sp>
        <p:nvSpPr>
          <p:cNvPr id="1075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726" y="4586460"/>
            <a:ext cx="5043599" cy="4345311"/>
          </a:xfrm>
        </p:spPr>
        <p:txBody>
          <a:bodyPr lIns="90727" tIns="45363" rIns="90727" bIns="45363"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A753B4-5282-43C2-A029-FD6CFA52A89D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1077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725488"/>
            <a:ext cx="4826000" cy="3619500"/>
          </a:xfrm>
          <a:ln/>
        </p:spPr>
      </p:sp>
      <p:sp>
        <p:nvSpPr>
          <p:cNvPr id="1077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726" y="4586460"/>
            <a:ext cx="5043599" cy="4345311"/>
          </a:xfrm>
        </p:spPr>
        <p:txBody>
          <a:bodyPr lIns="90727" tIns="45363" rIns="90727" bIns="45363"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441B34-8682-4FEB-B4A5-283255AE1E96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1079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725488"/>
            <a:ext cx="4826000" cy="3619500"/>
          </a:xfrm>
          <a:ln/>
        </p:spPr>
      </p:sp>
      <p:sp>
        <p:nvSpPr>
          <p:cNvPr id="1079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726" y="4586460"/>
            <a:ext cx="5043599" cy="4345311"/>
          </a:xfrm>
        </p:spPr>
        <p:txBody>
          <a:bodyPr lIns="90727" tIns="45363" rIns="90727" bIns="45363"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2F29FE-AAFB-4224-BF81-9C6293B6D34E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1081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725488"/>
            <a:ext cx="4826000" cy="3619500"/>
          </a:xfrm>
          <a:ln/>
        </p:spPr>
      </p:sp>
      <p:sp>
        <p:nvSpPr>
          <p:cNvPr id="1081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726" y="4586460"/>
            <a:ext cx="5043599" cy="4345311"/>
          </a:xfrm>
        </p:spPr>
        <p:txBody>
          <a:bodyPr lIns="90727" tIns="45363" rIns="90727" bIns="45363"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E23EFE-4A45-4D80-B956-2F361F884386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108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725488"/>
            <a:ext cx="4826000" cy="3619500"/>
          </a:xfrm>
          <a:ln/>
        </p:spPr>
      </p:sp>
      <p:sp>
        <p:nvSpPr>
          <p:cNvPr id="1085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726" y="4586460"/>
            <a:ext cx="5043599" cy="4345311"/>
          </a:xfrm>
        </p:spPr>
        <p:txBody>
          <a:bodyPr lIns="90727" tIns="45363" rIns="90727" bIns="45363"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0CBE0D-9B0B-405F-8FFE-8929159E7B52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1087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725488"/>
            <a:ext cx="4826000" cy="3619500"/>
          </a:xfrm>
          <a:ln/>
        </p:spPr>
      </p:sp>
      <p:sp>
        <p:nvSpPr>
          <p:cNvPr id="1087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726" y="4586460"/>
            <a:ext cx="5043599" cy="4345311"/>
          </a:xfrm>
        </p:spPr>
        <p:txBody>
          <a:bodyPr lIns="90727" tIns="45363" rIns="90727" bIns="45363"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455AA8-E944-4D32-8B5A-E0E52B0CD284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1091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725488"/>
            <a:ext cx="4826000" cy="3619500"/>
          </a:xfrm>
          <a:ln/>
        </p:spPr>
      </p:sp>
      <p:sp>
        <p:nvSpPr>
          <p:cNvPr id="1091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726" y="4586460"/>
            <a:ext cx="5043599" cy="4345311"/>
          </a:xfrm>
        </p:spPr>
        <p:txBody>
          <a:bodyPr lIns="90727" tIns="45363" rIns="90727" bIns="45363"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902167-8140-425A-AC50-E4A01A730E4F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1095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725488"/>
            <a:ext cx="4826000" cy="3619500"/>
          </a:xfrm>
          <a:ln/>
        </p:spPr>
      </p:sp>
      <p:sp>
        <p:nvSpPr>
          <p:cNvPr id="1095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726" y="4586460"/>
            <a:ext cx="5043599" cy="4345311"/>
          </a:xfrm>
        </p:spPr>
        <p:txBody>
          <a:bodyPr lIns="90727" tIns="45363" rIns="90727" bIns="45363"/>
          <a:lstStyle/>
          <a:p>
            <a:endParaRPr lang="zh-TW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2014/5/7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2014/5/7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2014/5/7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2014/5/7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2014/5/7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2014/5/7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3B8D-3E01-4D42-B99D-6E02089ACFD1}" type="datetimeFigureOut">
              <a:rPr lang="zh-TW" altLang="en-US" smtClean="0"/>
              <a:t>2014/5/7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3B8D-3E01-4D42-B99D-6E02089ACFD1}" type="datetimeFigureOut">
              <a:rPr lang="zh-TW" altLang="en-US" smtClean="0"/>
              <a:t>2014/5/7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3B8D-3E01-4D42-B99D-6E02089ACFD1}" type="datetimeFigureOut">
              <a:rPr lang="zh-TW" altLang="en-US" smtClean="0"/>
              <a:t>2014/5/7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3B8D-3E01-4D42-B99D-6E02089ACFD1}" type="datetimeFigureOut">
              <a:rPr lang="zh-TW" altLang="en-US" smtClean="0"/>
              <a:t>2014/5/7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3B8D-3E01-4D42-B99D-6E02089ACFD1}" type="datetimeFigureOut">
              <a:rPr lang="zh-TW" altLang="en-US" smtClean="0"/>
              <a:t>2014/5/7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3B8D-3E01-4D42-B99D-6E02089ACFD1}" type="datetimeFigureOut">
              <a:rPr lang="zh-TW" altLang="en-US" smtClean="0"/>
              <a:t>2014/5/7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3B8D-3E01-4D42-B99D-6E02089ACFD1}" type="datetimeFigureOut">
              <a:rPr lang="zh-TW" altLang="en-US" smtClean="0"/>
              <a:t>2014/5/7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3B8D-3E01-4D42-B99D-6E02089ACFD1}" type="datetimeFigureOut">
              <a:rPr lang="zh-TW" altLang="en-US" smtClean="0"/>
              <a:t>2014/5/7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3B8D-3E01-4D42-B99D-6E02089ACFD1}" type="datetimeFigureOut">
              <a:rPr lang="zh-TW" altLang="en-US" smtClean="0"/>
              <a:t>2014/5/7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3B8D-3E01-4D42-B99D-6E02089ACFD1}" type="datetimeFigureOut">
              <a:rPr lang="zh-TW" altLang="en-US" smtClean="0"/>
              <a:t>2014/5/7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3B8D-3E01-4D42-B99D-6E02089ACFD1}" type="datetimeFigureOut">
              <a:rPr lang="zh-TW" altLang="en-US" smtClean="0"/>
              <a:t>2014/5/7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2014/5/7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A3B8D-3E01-4D42-B99D-6E02089ACFD1}" type="datetimeFigureOut">
              <a:rPr lang="zh-TW" altLang="en-US" smtClean="0"/>
              <a:t>2014/5/7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 dirty="0" err="1">
                <a:ea typeface="標楷體" pitchFamily="65" charset="-120"/>
              </a:rPr>
              <a:t>AIChE</a:t>
            </a:r>
            <a:r>
              <a:rPr lang="zh-TW" altLang="en-US" b="1" dirty="0">
                <a:ea typeface="標楷體" pitchFamily="65" charset="-120"/>
              </a:rPr>
              <a:t>工程倫理規範</a:t>
            </a:r>
            <a:endParaRPr lang="zh-TW" altLang="en-US" b="1" dirty="0"/>
          </a:p>
        </p:txBody>
      </p:sp>
      <p:sp>
        <p:nvSpPr>
          <p:cNvPr id="6" name="副標題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于樹偉</a:t>
            </a:r>
          </a:p>
          <a:p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swyu@sahtech.org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財團法人安全衛生技術中心</a:t>
            </a:r>
          </a:p>
          <a:p>
            <a:endParaRPr lang="zh-TW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F1C4F-7FE1-4A94-877D-EE0AA59E6B4A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1074178" name="Rectangle 4"/>
          <p:cNvSpPr txBox="1">
            <a:spLocks noGrp="1" noChangeArrowheads="1"/>
          </p:cNvSpPr>
          <p:nvPr/>
        </p:nvSpPr>
        <p:spPr bwMode="auto">
          <a:xfrm>
            <a:off x="36195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0" hangingPunct="0"/>
            <a:fld id="{3D522E7D-E979-4C74-A5AF-A7072D1AB5DC}" type="slidenum">
              <a:rPr lang="en-US" altLang="zh-TW" sz="1400" b="0">
                <a:latin typeface="細明體" pitchFamily="49" charset="-120"/>
                <a:ea typeface="細明體" pitchFamily="49" charset="-120"/>
              </a:rPr>
              <a:pPr algn="ctr" eaLnBrk="0" hangingPunct="0"/>
              <a:t>2</a:t>
            </a:fld>
            <a:endParaRPr lang="en-US" altLang="zh-TW" sz="1400" b="0">
              <a:latin typeface="細明體" pitchFamily="49" charset="-120"/>
              <a:ea typeface="細明體" pitchFamily="49" charset="-120"/>
            </a:endParaRPr>
          </a:p>
        </p:txBody>
      </p:sp>
      <p:sp>
        <p:nvSpPr>
          <p:cNvPr id="585730" name="Rectangle 2"/>
          <p:cNvSpPr>
            <a:spLocks noChangeArrowheads="1"/>
          </p:cNvSpPr>
          <p:nvPr/>
        </p:nvSpPr>
        <p:spPr bwMode="auto">
          <a:xfrm>
            <a:off x="583222" y="934616"/>
            <a:ext cx="8088923" cy="694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/>
            <a:r>
              <a:rPr lang="zh-TW" altLang="en-US" sz="3600" b="1" dirty="0">
                <a:latin typeface="標楷體" pitchFamily="65" charset="-120"/>
                <a:ea typeface="標楷體" pitchFamily="65" charset="-120"/>
              </a:rPr>
              <a:t>緒  言</a:t>
            </a:r>
          </a:p>
        </p:txBody>
      </p:sp>
      <p:sp>
        <p:nvSpPr>
          <p:cNvPr id="1074180" name="Rectangle 3"/>
          <p:cNvSpPr>
            <a:spLocks noChangeArrowheads="1"/>
          </p:cNvSpPr>
          <p:nvPr/>
        </p:nvSpPr>
        <p:spPr bwMode="auto">
          <a:xfrm>
            <a:off x="467544" y="1772816"/>
            <a:ext cx="8483758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827088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235075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43063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None/>
            </a:pPr>
            <a:r>
              <a:rPr lang="zh-TW" altLang="zh-TW" sz="2800" b="1" dirty="0"/>
              <a:t>Members of the American Institute of Chemical Engineers shall uphold and advance the </a:t>
            </a:r>
            <a:r>
              <a:rPr lang="zh-TW" altLang="zh-TW" sz="2800" b="1" i="1" dirty="0"/>
              <a:t>integrity</a:t>
            </a:r>
            <a:r>
              <a:rPr lang="zh-TW" altLang="zh-TW" sz="2800" b="1" dirty="0"/>
              <a:t>, </a:t>
            </a:r>
            <a:r>
              <a:rPr lang="zh-TW" altLang="zh-TW" sz="2800" b="1" i="1" dirty="0"/>
              <a:t>honor</a:t>
            </a:r>
            <a:r>
              <a:rPr lang="zh-TW" altLang="zh-TW" sz="2800" b="1" dirty="0"/>
              <a:t> and </a:t>
            </a:r>
            <a:r>
              <a:rPr lang="zh-TW" altLang="zh-TW" sz="2800" b="1" i="1" dirty="0"/>
              <a:t>dignity</a:t>
            </a:r>
            <a:r>
              <a:rPr lang="zh-TW" altLang="zh-TW" sz="2800" b="1" dirty="0"/>
              <a:t> of the engineering profession by:</a:t>
            </a:r>
          </a:p>
          <a:p>
            <a:pPr eaLnBrk="0" hangingPunct="0">
              <a:buClr>
                <a:srgbClr val="993366"/>
              </a:buClr>
              <a:buSzPct val="60000"/>
              <a:buFont typeface="Wingdings" pitchFamily="2" charset="2"/>
              <a:buNone/>
            </a:pPr>
            <a:r>
              <a:rPr lang="zh-TW" altLang="en-US" sz="2800" b="1" dirty="0">
                <a:ea typeface="標楷體" pitchFamily="65" charset="-120"/>
              </a:rPr>
              <a:t>美國化學工程師學會會員，應遵循下述原則，支持和促進工程職業的正直、信譽和尊嚴：</a:t>
            </a:r>
          </a:p>
          <a:p>
            <a:pPr marL="265113" indent="-173038" eaLnBrk="0" hangingPunct="0">
              <a:buClr>
                <a:srgbClr val="993366"/>
              </a:buClr>
              <a:buSzPct val="60000"/>
              <a:buFont typeface="Wingdings" pitchFamily="2" charset="2"/>
              <a:buChar char="l"/>
            </a:pPr>
            <a:r>
              <a:rPr lang="zh-TW" altLang="en-US" sz="2800" b="1" dirty="0">
                <a:ea typeface="標楷體" pitchFamily="65" charset="-120"/>
              </a:rPr>
              <a:t>以誠實、公正和忠誠的態度服務雇主、客户和社會</a:t>
            </a:r>
          </a:p>
          <a:p>
            <a:pPr marL="265113" indent="-173038" eaLnBrk="0" hangingPunct="0">
              <a:buClr>
                <a:srgbClr val="993366"/>
              </a:buClr>
              <a:buSzPct val="60000"/>
              <a:buFont typeface="Wingdings" pitchFamily="2" charset="2"/>
              <a:buNone/>
            </a:pPr>
            <a:r>
              <a:rPr lang="zh-TW" altLang="en-US" sz="2800" b="1" dirty="0">
                <a:ea typeface="標楷體" pitchFamily="65" charset="-120"/>
              </a:rPr>
              <a:t>  大眾；</a:t>
            </a:r>
          </a:p>
          <a:p>
            <a:pPr marL="265113" indent="-173038" eaLnBrk="0" hangingPunct="0">
              <a:buClr>
                <a:srgbClr val="993366"/>
              </a:buClr>
              <a:buSzPct val="60000"/>
              <a:buFont typeface="Wingdings" pitchFamily="2" charset="2"/>
              <a:buChar char="l"/>
            </a:pPr>
            <a:r>
              <a:rPr lang="zh-TW" altLang="en-US" sz="2800" b="1" dirty="0">
                <a:ea typeface="標楷體" pitchFamily="65" charset="-120"/>
              </a:rPr>
              <a:t>努力提升工程職業的能力和聲譽；</a:t>
            </a:r>
          </a:p>
          <a:p>
            <a:pPr marL="265113" indent="-173038" eaLnBrk="0" hangingPunct="0">
              <a:buClr>
                <a:srgbClr val="993366"/>
              </a:buClr>
              <a:buSzPct val="60000"/>
              <a:buFont typeface="Wingdings" pitchFamily="2" charset="2"/>
              <a:buChar char="l"/>
            </a:pPr>
            <a:r>
              <a:rPr lang="zh-TW" altLang="en-US" sz="2800" b="1" dirty="0">
                <a:ea typeface="標楷體" pitchFamily="65" charset="-120"/>
              </a:rPr>
              <a:t>以知識和技能提升人類福祉。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08392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C91DC1-62E4-43EA-9D11-C34DA9815F8F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1076226" name="Rectangle 4"/>
          <p:cNvSpPr txBox="1">
            <a:spLocks noGrp="1" noChangeArrowheads="1"/>
          </p:cNvSpPr>
          <p:nvPr/>
        </p:nvSpPr>
        <p:spPr bwMode="auto">
          <a:xfrm>
            <a:off x="36195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0" hangingPunct="0"/>
            <a:fld id="{AFE373C7-EF67-461F-AD7B-55AC0FB30F0D}" type="slidenum">
              <a:rPr lang="en-US" altLang="zh-TW" sz="1400" b="0">
                <a:latin typeface="細明體" pitchFamily="49" charset="-120"/>
                <a:ea typeface="細明體" pitchFamily="49" charset="-120"/>
              </a:rPr>
              <a:pPr algn="ctr" eaLnBrk="0" hangingPunct="0"/>
              <a:t>3</a:t>
            </a:fld>
            <a:endParaRPr lang="en-US" altLang="zh-TW" sz="1400" b="0">
              <a:latin typeface="細明體" pitchFamily="49" charset="-120"/>
              <a:ea typeface="細明體" pitchFamily="49" charset="-120"/>
            </a:endParaRPr>
          </a:p>
        </p:txBody>
      </p:sp>
      <p:sp>
        <p:nvSpPr>
          <p:cNvPr id="585730" name="Rectangle 2"/>
          <p:cNvSpPr>
            <a:spLocks noChangeArrowheads="1"/>
          </p:cNvSpPr>
          <p:nvPr/>
        </p:nvSpPr>
        <p:spPr bwMode="auto">
          <a:xfrm>
            <a:off x="1066368" y="980728"/>
            <a:ext cx="6664569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/>
            <a:r>
              <a:rPr lang="zh-TW" altLang="en-US" sz="3600" b="1" dirty="0">
                <a:ea typeface="標楷體" pitchFamily="65" charset="-120"/>
              </a:rPr>
              <a:t>工程倫理規範</a:t>
            </a:r>
          </a:p>
        </p:txBody>
      </p:sp>
      <p:sp>
        <p:nvSpPr>
          <p:cNvPr id="1076228" name="Rectangle 3"/>
          <p:cNvSpPr>
            <a:spLocks noChangeArrowheads="1"/>
          </p:cNvSpPr>
          <p:nvPr/>
        </p:nvSpPr>
        <p:spPr bwMode="auto">
          <a:xfrm>
            <a:off x="539552" y="1772816"/>
            <a:ext cx="8411750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827088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235075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43063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None/>
            </a:pPr>
            <a:r>
              <a:rPr lang="zh-TW" altLang="zh-TW" sz="2800" b="1" dirty="0">
                <a:ea typeface="標楷體" pitchFamily="65" charset="-120"/>
              </a:rPr>
              <a:t>To achieve these goals, members shall:</a:t>
            </a:r>
          </a:p>
          <a:p>
            <a:pPr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None/>
            </a:pPr>
            <a:r>
              <a:rPr lang="zh-TW" altLang="en-US" sz="2800" b="1" dirty="0">
                <a:ea typeface="標楷體" pitchFamily="65" charset="-120"/>
              </a:rPr>
              <a:t>為達上述目的，所有會員必須：</a:t>
            </a:r>
          </a:p>
          <a:p>
            <a:pPr marL="265113" indent="-265113" eaLnBrk="0" hangingPunct="0">
              <a:buClr>
                <a:srgbClr val="993366"/>
              </a:buClr>
              <a:buSzPct val="60000"/>
              <a:buFont typeface="Wingdings" pitchFamily="2" charset="2"/>
              <a:buChar char="l"/>
            </a:pPr>
            <a:r>
              <a:rPr lang="en-US" altLang="zh-TW" sz="2800" b="1" dirty="0" smtClean="0">
                <a:ea typeface="標楷體" pitchFamily="65" charset="-120"/>
              </a:rPr>
              <a:t>Hold </a:t>
            </a:r>
            <a:r>
              <a:rPr lang="en-US" altLang="zh-TW" sz="2800" b="1" dirty="0">
                <a:ea typeface="標楷體" pitchFamily="65" charset="-120"/>
              </a:rPr>
              <a:t>paramount the safety, health and welfare of </a:t>
            </a:r>
            <a:r>
              <a:rPr lang="en-US" altLang="zh-TW" sz="2800" b="1" dirty="0" smtClean="0">
                <a:ea typeface="標楷體" pitchFamily="65" charset="-120"/>
              </a:rPr>
              <a:t> the public </a:t>
            </a:r>
            <a:r>
              <a:rPr lang="en-US" altLang="zh-TW" sz="2800" b="1" dirty="0">
                <a:ea typeface="標楷體" pitchFamily="65" charset="-120"/>
              </a:rPr>
              <a:t>and protect the environment in performance of their </a:t>
            </a:r>
            <a:r>
              <a:rPr lang="en-US" altLang="zh-TW" sz="2800" b="1" dirty="0" smtClean="0">
                <a:ea typeface="標楷體" pitchFamily="65" charset="-120"/>
              </a:rPr>
              <a:t>professional </a:t>
            </a:r>
            <a:r>
              <a:rPr lang="en-US" altLang="zh-TW" sz="2800" b="1" dirty="0">
                <a:ea typeface="標楷體" pitchFamily="65" charset="-120"/>
              </a:rPr>
              <a:t>duties.</a:t>
            </a:r>
            <a:r>
              <a:rPr lang="en-US" altLang="zh-TW" sz="2800" b="1" dirty="0">
                <a:solidFill>
                  <a:srgbClr val="333399"/>
                </a:solidFill>
              </a:rPr>
              <a:t> </a:t>
            </a:r>
          </a:p>
          <a:p>
            <a:pPr marL="182563"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None/>
            </a:pPr>
            <a:r>
              <a:rPr lang="zh-TW" altLang="en-US" sz="2800" b="1" dirty="0" smtClean="0">
                <a:ea typeface="標楷體" pitchFamily="65" charset="-120"/>
              </a:rPr>
              <a:t>執行</a:t>
            </a:r>
            <a:r>
              <a:rPr lang="zh-TW" altLang="en-US" sz="2800" b="1" dirty="0">
                <a:ea typeface="標楷體" pitchFamily="65" charset="-120"/>
              </a:rPr>
              <a:t>業務時，以安全、衛生、大眾福祉和環境保護為最重 </a:t>
            </a:r>
            <a:r>
              <a:rPr lang="zh-TW" altLang="en-US" sz="2800" b="1" dirty="0" smtClean="0">
                <a:ea typeface="標楷體" pitchFamily="65" charset="-120"/>
              </a:rPr>
              <a:t>要</a:t>
            </a:r>
            <a:r>
              <a:rPr lang="zh-TW" altLang="en-US" sz="2800" b="1" dirty="0">
                <a:ea typeface="標楷體" pitchFamily="65" charset="-120"/>
              </a:rPr>
              <a:t>考量。</a:t>
            </a:r>
          </a:p>
          <a:p>
            <a:pPr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None/>
            </a:pPr>
            <a:endParaRPr lang="en-US" altLang="zh-TW" sz="2800" dirty="0">
              <a:ea typeface="標楷體" pitchFamily="65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06402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62C71E-978D-4EC4-B891-0E5E89177A0A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1078274" name="Rectangle 4"/>
          <p:cNvSpPr txBox="1">
            <a:spLocks noGrp="1" noChangeArrowheads="1"/>
          </p:cNvSpPr>
          <p:nvPr/>
        </p:nvSpPr>
        <p:spPr bwMode="auto">
          <a:xfrm>
            <a:off x="36195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0" hangingPunct="0"/>
            <a:fld id="{FC09B24B-4F93-4FAD-AAFA-92AA855983C2}" type="slidenum">
              <a:rPr lang="en-US" altLang="zh-TW" sz="1400" b="0">
                <a:latin typeface="細明體" pitchFamily="49" charset="-120"/>
                <a:ea typeface="細明體" pitchFamily="49" charset="-120"/>
              </a:rPr>
              <a:pPr algn="ctr" eaLnBrk="0" hangingPunct="0"/>
              <a:t>4</a:t>
            </a:fld>
            <a:endParaRPr lang="en-US" altLang="zh-TW" sz="1400" b="0">
              <a:latin typeface="細明體" pitchFamily="49" charset="-120"/>
              <a:ea typeface="細明體" pitchFamily="49" charset="-120"/>
            </a:endParaRPr>
          </a:p>
        </p:txBody>
      </p:sp>
      <p:sp>
        <p:nvSpPr>
          <p:cNvPr id="585730" name="Rectangle 2"/>
          <p:cNvSpPr>
            <a:spLocks noChangeArrowheads="1"/>
          </p:cNvSpPr>
          <p:nvPr/>
        </p:nvSpPr>
        <p:spPr bwMode="auto">
          <a:xfrm>
            <a:off x="1019504" y="980728"/>
            <a:ext cx="6664569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/>
            <a:r>
              <a:rPr lang="zh-TW" altLang="en-US" sz="3600" b="1" dirty="0">
                <a:ea typeface="標楷體" pitchFamily="65" charset="-120"/>
              </a:rPr>
              <a:t>工程倫理規範 </a:t>
            </a:r>
            <a:r>
              <a:rPr lang="en-US" altLang="zh-TW" sz="1800" b="1" dirty="0">
                <a:ea typeface="標楷體" pitchFamily="65" charset="-120"/>
              </a:rPr>
              <a:t>(</a:t>
            </a:r>
            <a:r>
              <a:rPr lang="zh-TW" altLang="en-US" sz="1800" b="1" dirty="0">
                <a:ea typeface="標楷體" pitchFamily="65" charset="-120"/>
              </a:rPr>
              <a:t>續</a:t>
            </a:r>
            <a:r>
              <a:rPr lang="en-US" altLang="zh-TW" sz="1800" b="1" dirty="0">
                <a:ea typeface="標楷體" pitchFamily="65" charset="-120"/>
              </a:rPr>
              <a:t>1)</a:t>
            </a:r>
          </a:p>
        </p:txBody>
      </p:sp>
      <p:sp>
        <p:nvSpPr>
          <p:cNvPr id="1078276" name="Rectangle 3"/>
          <p:cNvSpPr>
            <a:spLocks noChangeArrowheads="1"/>
          </p:cNvSpPr>
          <p:nvPr/>
        </p:nvSpPr>
        <p:spPr bwMode="auto">
          <a:xfrm>
            <a:off x="611559" y="1772816"/>
            <a:ext cx="8418845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827088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235075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43063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marL="182563" indent="-182563"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Char char="l"/>
            </a:pPr>
            <a:r>
              <a:rPr lang="en-US" altLang="zh-TW" sz="2800" b="1" dirty="0">
                <a:ea typeface="標楷體" pitchFamily="65" charset="-120"/>
              </a:rPr>
              <a:t>Formally advise their employers or clients (and consider </a:t>
            </a:r>
            <a:r>
              <a:rPr lang="en-US" altLang="zh-TW" sz="2800" b="1" dirty="0" smtClean="0">
                <a:ea typeface="標楷體" pitchFamily="65" charset="-120"/>
              </a:rPr>
              <a:t>further </a:t>
            </a:r>
            <a:r>
              <a:rPr lang="en-US" altLang="zh-TW" sz="2800" b="1" dirty="0">
                <a:ea typeface="標楷體" pitchFamily="65" charset="-120"/>
              </a:rPr>
              <a:t>disclosure, if warranted) if they perceive that a </a:t>
            </a:r>
            <a:r>
              <a:rPr lang="en-US" altLang="zh-TW" sz="2800" b="1" dirty="0" smtClean="0">
                <a:ea typeface="標楷體" pitchFamily="65" charset="-120"/>
              </a:rPr>
              <a:t>consequence </a:t>
            </a:r>
            <a:r>
              <a:rPr lang="en-US" altLang="zh-TW" sz="2800" b="1" dirty="0">
                <a:ea typeface="標楷體" pitchFamily="65" charset="-120"/>
              </a:rPr>
              <a:t>of their duties will adversely affect the present </a:t>
            </a:r>
            <a:r>
              <a:rPr lang="en-US" altLang="zh-TW" sz="2800" b="1" dirty="0" smtClean="0">
                <a:ea typeface="標楷體" pitchFamily="65" charset="-120"/>
              </a:rPr>
              <a:t>or </a:t>
            </a:r>
            <a:r>
              <a:rPr lang="en-US" altLang="zh-TW" sz="2800" b="1" dirty="0">
                <a:ea typeface="標楷體" pitchFamily="65" charset="-120"/>
              </a:rPr>
              <a:t>future health or safety of their colleagues or the public.</a:t>
            </a:r>
          </a:p>
          <a:p>
            <a:pPr marL="182563"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None/>
            </a:pPr>
            <a:r>
              <a:rPr lang="zh-TW" altLang="zh-TW" sz="2800" b="1" dirty="0">
                <a:ea typeface="標楷體" pitchFamily="65" charset="-120"/>
              </a:rPr>
              <a:t>如</a:t>
            </a:r>
            <a:r>
              <a:rPr lang="zh-TW" altLang="en-US" sz="2800" b="1" dirty="0">
                <a:ea typeface="標楷體" pitchFamily="65" charset="-120"/>
              </a:rPr>
              <a:t>果認為他們所執行業務的後果，將會造成同仁或社會大眾現在或未來</a:t>
            </a:r>
            <a:r>
              <a:rPr lang="zh-TW" altLang="zh-TW" sz="2800" b="1" dirty="0">
                <a:ea typeface="標楷體" pitchFamily="65" charset="-120"/>
              </a:rPr>
              <a:t>安全或健康負面</a:t>
            </a:r>
            <a:r>
              <a:rPr lang="zh-TW" altLang="en-US" sz="2800" b="1" dirty="0">
                <a:ea typeface="標楷體" pitchFamily="65" charset="-120"/>
              </a:rPr>
              <a:t>影響時，應正式告知僱主或客户</a:t>
            </a:r>
            <a:r>
              <a:rPr lang="en-US" altLang="zh-TW" sz="2800" b="1" dirty="0">
                <a:ea typeface="標楷體" pitchFamily="65" charset="-120"/>
              </a:rPr>
              <a:t>(</a:t>
            </a:r>
            <a:r>
              <a:rPr lang="zh-TW" altLang="en-US" sz="2800" b="1" dirty="0">
                <a:ea typeface="標楷體" pitchFamily="65" charset="-120"/>
              </a:rPr>
              <a:t>和</a:t>
            </a:r>
            <a:r>
              <a:rPr lang="zh-TW" altLang="zh-TW" sz="2800" b="1" dirty="0">
                <a:ea typeface="標楷體" pitchFamily="65" charset="-120"/>
              </a:rPr>
              <a:t>證據充份時，</a:t>
            </a:r>
            <a:r>
              <a:rPr lang="zh-TW" altLang="en-US" sz="2800" b="1" dirty="0">
                <a:ea typeface="標楷體" pitchFamily="65" charset="-120"/>
              </a:rPr>
              <a:t>進一步揭發</a:t>
            </a:r>
            <a:r>
              <a:rPr lang="en-US" altLang="zh-TW" sz="2800" b="1" dirty="0">
                <a:ea typeface="標楷體" pitchFamily="65" charset="-120"/>
              </a:rPr>
              <a:t>) </a:t>
            </a:r>
            <a:r>
              <a:rPr lang="zh-TW" altLang="en-US" sz="2800" b="1" dirty="0">
                <a:ea typeface="標楷體" pitchFamily="65" charset="-120"/>
              </a:rPr>
              <a:t>。</a:t>
            </a:r>
          </a:p>
          <a:p>
            <a:pPr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None/>
            </a:pPr>
            <a:r>
              <a:rPr lang="zh-TW" altLang="en-US" sz="2800" dirty="0">
                <a:ea typeface="標楷體" pitchFamily="65" charset="-120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93207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FE4C52-42E5-499C-B5EB-FFF70F62E7CD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1080322" name="Rectangle 4"/>
          <p:cNvSpPr txBox="1">
            <a:spLocks noGrp="1" noChangeArrowheads="1"/>
          </p:cNvSpPr>
          <p:nvPr/>
        </p:nvSpPr>
        <p:spPr bwMode="auto">
          <a:xfrm>
            <a:off x="36195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0" hangingPunct="0"/>
            <a:fld id="{710216B0-2D76-447D-958E-C966C7F8BCAC}" type="slidenum">
              <a:rPr lang="en-US" altLang="zh-TW" sz="1400" b="0">
                <a:latin typeface="細明體" pitchFamily="49" charset="-120"/>
                <a:ea typeface="細明體" pitchFamily="49" charset="-120"/>
              </a:rPr>
              <a:pPr algn="ctr" eaLnBrk="0" hangingPunct="0"/>
              <a:t>5</a:t>
            </a:fld>
            <a:endParaRPr lang="en-US" altLang="zh-TW" sz="1400" b="0">
              <a:latin typeface="細明體" pitchFamily="49" charset="-120"/>
              <a:ea typeface="細明體" pitchFamily="49" charset="-120"/>
            </a:endParaRPr>
          </a:p>
        </p:txBody>
      </p:sp>
      <p:sp>
        <p:nvSpPr>
          <p:cNvPr id="585730" name="Rectangle 2"/>
          <p:cNvSpPr>
            <a:spLocks noChangeArrowheads="1"/>
          </p:cNvSpPr>
          <p:nvPr/>
        </p:nvSpPr>
        <p:spPr bwMode="auto">
          <a:xfrm>
            <a:off x="1115616" y="980728"/>
            <a:ext cx="6664569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/>
            <a:r>
              <a:rPr lang="zh-TW" altLang="en-US" sz="3600" b="1" dirty="0">
                <a:ea typeface="標楷體" pitchFamily="65" charset="-120"/>
              </a:rPr>
              <a:t>工程倫理規範 </a:t>
            </a:r>
            <a:r>
              <a:rPr lang="en-US" altLang="zh-TW" sz="1800" b="1" dirty="0">
                <a:ea typeface="標楷體" pitchFamily="65" charset="-120"/>
              </a:rPr>
              <a:t>(</a:t>
            </a:r>
            <a:r>
              <a:rPr lang="zh-TW" altLang="en-US" sz="1800" b="1" dirty="0">
                <a:ea typeface="標楷體" pitchFamily="65" charset="-120"/>
              </a:rPr>
              <a:t>續</a:t>
            </a:r>
            <a:r>
              <a:rPr lang="en-US" altLang="zh-TW" sz="1800" b="1" dirty="0">
                <a:ea typeface="標楷體" pitchFamily="65" charset="-120"/>
              </a:rPr>
              <a:t>2)</a:t>
            </a:r>
          </a:p>
        </p:txBody>
      </p:sp>
      <p:sp>
        <p:nvSpPr>
          <p:cNvPr id="1080324" name="Rectangle 3"/>
          <p:cNvSpPr>
            <a:spLocks noChangeArrowheads="1"/>
          </p:cNvSpPr>
          <p:nvPr/>
        </p:nvSpPr>
        <p:spPr bwMode="auto">
          <a:xfrm>
            <a:off x="611560" y="1772816"/>
            <a:ext cx="8339742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827088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235075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43063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marL="265113" indent="-265113"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Char char="l"/>
            </a:pPr>
            <a:r>
              <a:rPr lang="en-US" altLang="zh-TW" sz="2800" b="1" dirty="0">
                <a:ea typeface="標楷體" pitchFamily="65" charset="-120"/>
              </a:rPr>
              <a:t>Accept responsibility for their actions, seek and </a:t>
            </a:r>
            <a:r>
              <a:rPr lang="en-US" altLang="zh-TW" sz="2800" b="1" dirty="0" smtClean="0">
                <a:ea typeface="標楷體" pitchFamily="65" charset="-120"/>
              </a:rPr>
              <a:t>heed critical </a:t>
            </a:r>
            <a:r>
              <a:rPr lang="en-US" altLang="zh-TW" sz="2800" b="1" dirty="0">
                <a:ea typeface="標楷體" pitchFamily="65" charset="-120"/>
              </a:rPr>
              <a:t>review of their work and offer objective criticism of </a:t>
            </a:r>
            <a:r>
              <a:rPr lang="en-US" altLang="zh-TW" sz="2800" b="1" dirty="0" smtClean="0">
                <a:ea typeface="標楷體" pitchFamily="65" charset="-120"/>
              </a:rPr>
              <a:t>the </a:t>
            </a:r>
            <a:r>
              <a:rPr lang="en-US" altLang="zh-TW" sz="2800" b="1" dirty="0">
                <a:ea typeface="標楷體" pitchFamily="65" charset="-120"/>
              </a:rPr>
              <a:t>work of others. </a:t>
            </a:r>
          </a:p>
          <a:p>
            <a:pPr marL="265113"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None/>
            </a:pPr>
            <a:r>
              <a:rPr lang="zh-TW" altLang="en-US" sz="2800" b="1" dirty="0">
                <a:ea typeface="標楷體" pitchFamily="65" charset="-120"/>
              </a:rPr>
              <a:t>為自己的行為負責，尋求和注意他人對自己工作的批評，並提供他人工作客觀的評論</a:t>
            </a:r>
            <a:r>
              <a:rPr lang="zh-TW" altLang="en-US" sz="2800" b="1" dirty="0" smtClean="0">
                <a:ea typeface="標楷體" pitchFamily="65" charset="-120"/>
              </a:rPr>
              <a:t>。</a:t>
            </a:r>
            <a:endParaRPr lang="zh-TW" altLang="en-US" sz="2800" b="1" dirty="0">
              <a:ea typeface="標楷體" pitchFamily="65" charset="-120"/>
            </a:endParaRPr>
          </a:p>
          <a:p>
            <a:pPr marL="265113" indent="-265113">
              <a:buClr>
                <a:srgbClr val="800000"/>
              </a:buClr>
              <a:buSzPct val="60000"/>
              <a:buFont typeface="Wingdings" pitchFamily="2" charset="2"/>
              <a:buChar char="l"/>
            </a:pPr>
            <a:r>
              <a:rPr lang="en-US" altLang="zh-TW" sz="2800" b="1" dirty="0">
                <a:ea typeface="標楷體" pitchFamily="65" charset="-120"/>
              </a:rPr>
              <a:t>Issue statements or present information only in an objective </a:t>
            </a:r>
            <a:r>
              <a:rPr lang="en-US" altLang="zh-TW" sz="2800" b="1" dirty="0" smtClean="0">
                <a:ea typeface="標楷體" pitchFamily="65" charset="-120"/>
              </a:rPr>
              <a:t>and </a:t>
            </a:r>
            <a:r>
              <a:rPr lang="en-US" altLang="zh-TW" sz="2800" b="1" dirty="0">
                <a:ea typeface="標楷體" pitchFamily="65" charset="-120"/>
              </a:rPr>
              <a:t>truthful manner.</a:t>
            </a:r>
            <a:r>
              <a:rPr lang="en-US" altLang="zh-TW" sz="3600" b="1" dirty="0"/>
              <a:t> </a:t>
            </a:r>
          </a:p>
          <a:p>
            <a:pPr marL="265113"/>
            <a:r>
              <a:rPr lang="zh-TW" altLang="en-US" sz="2800" b="1" dirty="0">
                <a:ea typeface="標楷體" pitchFamily="65" charset="-120"/>
              </a:rPr>
              <a:t>必須以客觀和坦率的態度發佈正式聲明或提供資訊。</a:t>
            </a:r>
          </a:p>
          <a:p>
            <a:pPr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Char char="l"/>
            </a:pPr>
            <a:endParaRPr lang="en-US" altLang="zh-TW" sz="2800" dirty="0">
              <a:ea typeface="標楷體" pitchFamily="65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58324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22A240-4803-45D4-8CA3-EF76F8C36D16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1084418" name="Rectangle 4"/>
          <p:cNvSpPr txBox="1">
            <a:spLocks noGrp="1" noChangeArrowheads="1"/>
          </p:cNvSpPr>
          <p:nvPr/>
        </p:nvSpPr>
        <p:spPr bwMode="auto">
          <a:xfrm>
            <a:off x="36195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0" hangingPunct="0"/>
            <a:fld id="{2AF005E4-FDCC-433B-8F48-B4780ECF92E5}" type="slidenum">
              <a:rPr lang="en-US" altLang="zh-TW" sz="1400" b="0">
                <a:latin typeface="細明體" pitchFamily="49" charset="-120"/>
                <a:ea typeface="細明體" pitchFamily="49" charset="-120"/>
              </a:rPr>
              <a:pPr algn="ctr" eaLnBrk="0" hangingPunct="0"/>
              <a:t>6</a:t>
            </a:fld>
            <a:endParaRPr lang="en-US" altLang="zh-TW" sz="1400" b="0">
              <a:latin typeface="細明體" pitchFamily="49" charset="-120"/>
              <a:ea typeface="細明體" pitchFamily="49" charset="-120"/>
            </a:endParaRPr>
          </a:p>
        </p:txBody>
      </p:sp>
      <p:sp>
        <p:nvSpPr>
          <p:cNvPr id="585730" name="Rectangle 2"/>
          <p:cNvSpPr>
            <a:spLocks noChangeArrowheads="1"/>
          </p:cNvSpPr>
          <p:nvPr/>
        </p:nvSpPr>
        <p:spPr bwMode="auto">
          <a:xfrm>
            <a:off x="1115616" y="980728"/>
            <a:ext cx="6664569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/>
            <a:r>
              <a:rPr lang="zh-TW" altLang="en-US" sz="3600" b="1" dirty="0">
                <a:ea typeface="標楷體" pitchFamily="65" charset="-120"/>
              </a:rPr>
              <a:t>工程倫理規範 </a:t>
            </a:r>
            <a:r>
              <a:rPr lang="en-US" altLang="zh-TW" sz="1800" b="1" dirty="0">
                <a:ea typeface="標楷體" pitchFamily="65" charset="-120"/>
              </a:rPr>
              <a:t>(</a:t>
            </a:r>
            <a:r>
              <a:rPr lang="zh-TW" altLang="en-US" sz="1800" b="1" dirty="0">
                <a:ea typeface="標楷體" pitchFamily="65" charset="-120"/>
              </a:rPr>
              <a:t>續</a:t>
            </a:r>
            <a:r>
              <a:rPr lang="en-US" altLang="zh-TW" sz="1800" b="1" dirty="0">
                <a:ea typeface="標楷體" pitchFamily="65" charset="-120"/>
              </a:rPr>
              <a:t>3)</a:t>
            </a:r>
          </a:p>
        </p:txBody>
      </p:sp>
      <p:sp>
        <p:nvSpPr>
          <p:cNvPr id="1084420" name="Rectangle 3"/>
          <p:cNvSpPr>
            <a:spLocks noChangeArrowheads="1"/>
          </p:cNvSpPr>
          <p:nvPr/>
        </p:nvSpPr>
        <p:spPr bwMode="auto">
          <a:xfrm>
            <a:off x="539551" y="1844824"/>
            <a:ext cx="8426433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827088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235075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43063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marL="265113" indent="-265113"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Char char="l"/>
            </a:pPr>
            <a:r>
              <a:rPr lang="en-US" altLang="zh-TW" sz="2800" b="1" dirty="0">
                <a:ea typeface="標楷體" pitchFamily="65" charset="-120"/>
              </a:rPr>
              <a:t>Act in professional matters for each employer or client as </a:t>
            </a:r>
            <a:r>
              <a:rPr lang="en-US" altLang="zh-TW" sz="2800" b="1" dirty="0" smtClean="0">
                <a:ea typeface="標楷體" pitchFamily="65" charset="-120"/>
              </a:rPr>
              <a:t>faithful </a:t>
            </a:r>
            <a:r>
              <a:rPr lang="en-US" altLang="zh-TW" sz="2800" b="1" dirty="0">
                <a:ea typeface="標楷體" pitchFamily="65" charset="-120"/>
              </a:rPr>
              <a:t>agents or trustees, avoiding conflicts of interest and </a:t>
            </a:r>
            <a:r>
              <a:rPr lang="en-US" altLang="zh-TW" sz="2800" b="1" dirty="0" smtClean="0">
                <a:ea typeface="標楷體" pitchFamily="65" charset="-120"/>
              </a:rPr>
              <a:t>never </a:t>
            </a:r>
            <a:r>
              <a:rPr lang="en-US" altLang="zh-TW" sz="2800" b="1" dirty="0">
                <a:ea typeface="標楷體" pitchFamily="65" charset="-120"/>
              </a:rPr>
              <a:t>breaching confidentiality. </a:t>
            </a:r>
          </a:p>
          <a:p>
            <a:pPr marL="265113"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None/>
            </a:pPr>
            <a:r>
              <a:rPr lang="zh-TW" altLang="en-US" sz="2800" b="1" dirty="0">
                <a:ea typeface="標楷體" pitchFamily="65" charset="-120"/>
              </a:rPr>
              <a:t>以忠實代理人或受託管理人的態度，執行僱主或客户交付的職務，應避免利益衝突，絕不可違反商業機密。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98788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D34F43-4916-487D-BDFE-EB472C4872AD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1086466" name="Rectangle 4"/>
          <p:cNvSpPr txBox="1">
            <a:spLocks noGrp="1" noChangeArrowheads="1"/>
          </p:cNvSpPr>
          <p:nvPr/>
        </p:nvSpPr>
        <p:spPr bwMode="auto">
          <a:xfrm>
            <a:off x="36195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0" hangingPunct="0"/>
            <a:fld id="{8EF92489-EBFC-4821-8474-65F1EB57104E}" type="slidenum">
              <a:rPr lang="en-US" altLang="zh-TW" sz="1400" b="0">
                <a:latin typeface="細明體" pitchFamily="49" charset="-120"/>
                <a:ea typeface="細明體" pitchFamily="49" charset="-120"/>
              </a:rPr>
              <a:pPr algn="ctr" eaLnBrk="0" hangingPunct="0"/>
              <a:t>7</a:t>
            </a:fld>
            <a:endParaRPr lang="en-US" altLang="zh-TW" sz="1400" b="0">
              <a:latin typeface="細明體" pitchFamily="49" charset="-120"/>
              <a:ea typeface="細明體" pitchFamily="49" charset="-120"/>
            </a:endParaRPr>
          </a:p>
        </p:txBody>
      </p:sp>
      <p:sp>
        <p:nvSpPr>
          <p:cNvPr id="585730" name="Rectangle 2"/>
          <p:cNvSpPr>
            <a:spLocks noChangeArrowheads="1"/>
          </p:cNvSpPr>
          <p:nvPr/>
        </p:nvSpPr>
        <p:spPr bwMode="auto">
          <a:xfrm>
            <a:off x="1077800" y="980728"/>
            <a:ext cx="6664569" cy="556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/>
            <a:r>
              <a:rPr lang="zh-TW" altLang="en-US" sz="3600" b="1" dirty="0">
                <a:ea typeface="標楷體" pitchFamily="65" charset="-120"/>
              </a:rPr>
              <a:t>工程倫理規範 </a:t>
            </a:r>
            <a:r>
              <a:rPr lang="en-US" altLang="zh-TW" sz="1800" b="1" dirty="0">
                <a:ea typeface="標楷體" pitchFamily="65" charset="-120"/>
              </a:rPr>
              <a:t>(</a:t>
            </a:r>
            <a:r>
              <a:rPr lang="zh-TW" altLang="en-US" sz="1800" b="1" dirty="0">
                <a:ea typeface="標楷體" pitchFamily="65" charset="-120"/>
              </a:rPr>
              <a:t>續</a:t>
            </a:r>
            <a:r>
              <a:rPr lang="en-US" altLang="zh-TW" sz="1800" b="1" dirty="0">
                <a:ea typeface="標楷體" pitchFamily="65" charset="-120"/>
              </a:rPr>
              <a:t>4)</a:t>
            </a:r>
          </a:p>
        </p:txBody>
      </p:sp>
      <p:sp>
        <p:nvSpPr>
          <p:cNvPr id="1086468" name="Rectangle 3"/>
          <p:cNvSpPr>
            <a:spLocks noChangeArrowheads="1"/>
          </p:cNvSpPr>
          <p:nvPr/>
        </p:nvSpPr>
        <p:spPr bwMode="auto">
          <a:xfrm>
            <a:off x="611560" y="1700808"/>
            <a:ext cx="8339742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827088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235075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43063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marL="265113" indent="-265113"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Char char="l"/>
            </a:pPr>
            <a:r>
              <a:rPr lang="en-US" altLang="zh-TW" sz="2800" b="1" dirty="0">
                <a:ea typeface="標楷體" pitchFamily="65" charset="-120"/>
              </a:rPr>
              <a:t>Treat fairly and respectfully all colleagues and </a:t>
            </a:r>
            <a:r>
              <a:rPr lang="en-US" altLang="zh-TW" sz="2800" b="1" dirty="0" smtClean="0">
                <a:ea typeface="標楷體" pitchFamily="65" charset="-120"/>
              </a:rPr>
              <a:t>co-workers, recognizing </a:t>
            </a:r>
            <a:r>
              <a:rPr lang="en-US" altLang="zh-TW" sz="2800" b="1" dirty="0">
                <a:ea typeface="標楷體" pitchFamily="65" charset="-120"/>
              </a:rPr>
              <a:t>their unique contributions and capabilities. </a:t>
            </a:r>
          </a:p>
          <a:p>
            <a:pPr marL="265113"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None/>
            </a:pPr>
            <a:r>
              <a:rPr lang="zh-TW" altLang="en-US" sz="2800" b="1" dirty="0">
                <a:ea typeface="標楷體" pitchFamily="65" charset="-120"/>
              </a:rPr>
              <a:t>以公</a:t>
            </a:r>
            <a:r>
              <a:rPr lang="zh-TW" altLang="zh-TW" sz="2800" b="1" dirty="0">
                <a:ea typeface="標楷體" pitchFamily="65" charset="-120"/>
              </a:rPr>
              <a:t>平</a:t>
            </a:r>
            <a:r>
              <a:rPr lang="zh-TW" altLang="en-US" sz="2800" b="1" dirty="0">
                <a:ea typeface="標楷體" pitchFamily="65" charset="-120"/>
              </a:rPr>
              <a:t>和尊敬的態度對</a:t>
            </a:r>
            <a:r>
              <a:rPr lang="zh-TW" altLang="zh-TW" sz="2800" b="1" dirty="0">
                <a:ea typeface="標楷體" pitchFamily="65" charset="-120"/>
              </a:rPr>
              <a:t>待</a:t>
            </a:r>
            <a:r>
              <a:rPr lang="zh-TW" altLang="en-US" sz="2800" b="1" dirty="0">
                <a:ea typeface="標楷體" pitchFamily="65" charset="-120"/>
              </a:rPr>
              <a:t>同仁，認可他們特別的貢献和能力。</a:t>
            </a:r>
          </a:p>
          <a:p>
            <a:pPr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None/>
            </a:pPr>
            <a:endParaRPr lang="zh-TW" altLang="en-US" sz="2800" b="1" dirty="0">
              <a:ea typeface="標楷體" pitchFamily="65" charset="-120"/>
            </a:endParaRPr>
          </a:p>
          <a:p>
            <a:pPr marL="265113" indent="-265113">
              <a:buClr>
                <a:srgbClr val="800000"/>
              </a:buClr>
              <a:buSzPct val="60000"/>
              <a:buFont typeface="Wingdings" pitchFamily="2" charset="2"/>
              <a:buChar char="l"/>
            </a:pPr>
            <a:r>
              <a:rPr lang="en-US" altLang="zh-TW" sz="2800" b="1" dirty="0">
                <a:ea typeface="標楷體" pitchFamily="65" charset="-120"/>
              </a:rPr>
              <a:t>Perform professional services only in areas of </a:t>
            </a:r>
            <a:r>
              <a:rPr lang="en-US" altLang="zh-TW" sz="2800" b="1" dirty="0" smtClean="0">
                <a:ea typeface="標楷體" pitchFamily="65" charset="-120"/>
              </a:rPr>
              <a:t>their</a:t>
            </a:r>
          </a:p>
          <a:p>
            <a:pPr marL="265113">
              <a:buClr>
                <a:srgbClr val="800000"/>
              </a:buClr>
              <a:buSzPct val="60000"/>
            </a:pPr>
            <a:r>
              <a:rPr lang="en-US" altLang="zh-TW" sz="2800" b="1" dirty="0" smtClean="0">
                <a:ea typeface="標楷體" pitchFamily="65" charset="-120"/>
              </a:rPr>
              <a:t>competence</a:t>
            </a:r>
            <a:r>
              <a:rPr lang="en-US" altLang="zh-TW" sz="2800" b="1" dirty="0">
                <a:ea typeface="標楷體" pitchFamily="65" charset="-120"/>
              </a:rPr>
              <a:t>. </a:t>
            </a:r>
          </a:p>
          <a:p>
            <a:pPr marL="265113"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None/>
            </a:pPr>
            <a:r>
              <a:rPr lang="zh-TW" altLang="en-US" sz="2800" b="1" dirty="0">
                <a:ea typeface="標楷體" pitchFamily="65" charset="-120"/>
              </a:rPr>
              <a:t>就個人的專業或專業能力，履行職務或執行工作。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59916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D42EB-24B6-4FCE-A4E6-0A12223FAF8A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1090562" name="Rectangle 4"/>
          <p:cNvSpPr txBox="1">
            <a:spLocks noGrp="1" noChangeArrowheads="1"/>
          </p:cNvSpPr>
          <p:nvPr/>
        </p:nvSpPr>
        <p:spPr bwMode="auto">
          <a:xfrm>
            <a:off x="36195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0" hangingPunct="0"/>
            <a:fld id="{D2B2567C-7735-4577-9291-D2FC3AD11FD3}" type="slidenum">
              <a:rPr lang="en-US" altLang="zh-TW" sz="1400" b="0">
                <a:latin typeface="細明體" pitchFamily="49" charset="-120"/>
                <a:ea typeface="細明體" pitchFamily="49" charset="-120"/>
              </a:rPr>
              <a:pPr algn="ctr" eaLnBrk="0" hangingPunct="0"/>
              <a:t>8</a:t>
            </a:fld>
            <a:endParaRPr lang="en-US" altLang="zh-TW" sz="1400" b="0">
              <a:latin typeface="細明體" pitchFamily="49" charset="-120"/>
              <a:ea typeface="細明體" pitchFamily="49" charset="-120"/>
            </a:endParaRPr>
          </a:p>
        </p:txBody>
      </p:sp>
      <p:sp>
        <p:nvSpPr>
          <p:cNvPr id="585730" name="Rectangle 2"/>
          <p:cNvSpPr>
            <a:spLocks noChangeArrowheads="1"/>
          </p:cNvSpPr>
          <p:nvPr/>
        </p:nvSpPr>
        <p:spPr bwMode="auto">
          <a:xfrm>
            <a:off x="1049216" y="928142"/>
            <a:ext cx="6664569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/>
            <a:r>
              <a:rPr lang="zh-TW" altLang="en-US" sz="3600" b="1" dirty="0">
                <a:ea typeface="標楷體" pitchFamily="65" charset="-120"/>
              </a:rPr>
              <a:t>工程倫理規範 </a:t>
            </a:r>
            <a:r>
              <a:rPr lang="en-US" altLang="zh-TW" sz="1800" b="1" dirty="0">
                <a:ea typeface="標楷體" pitchFamily="65" charset="-120"/>
              </a:rPr>
              <a:t>(</a:t>
            </a:r>
            <a:r>
              <a:rPr lang="zh-TW" altLang="en-US" sz="1800" b="1" dirty="0">
                <a:ea typeface="標楷體" pitchFamily="65" charset="-120"/>
              </a:rPr>
              <a:t>續</a:t>
            </a:r>
            <a:r>
              <a:rPr lang="en-US" altLang="zh-TW" sz="1800" b="1" dirty="0">
                <a:ea typeface="標楷體" pitchFamily="65" charset="-120"/>
              </a:rPr>
              <a:t>5)</a:t>
            </a:r>
          </a:p>
        </p:txBody>
      </p:sp>
      <p:sp>
        <p:nvSpPr>
          <p:cNvPr id="1090564" name="Rectangle 3"/>
          <p:cNvSpPr>
            <a:spLocks noChangeArrowheads="1"/>
          </p:cNvSpPr>
          <p:nvPr/>
        </p:nvSpPr>
        <p:spPr bwMode="auto">
          <a:xfrm>
            <a:off x="611559" y="1700808"/>
            <a:ext cx="8410813" cy="4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827088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235075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43063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marL="265113" indent="-265113"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Char char="l"/>
            </a:pPr>
            <a:r>
              <a:rPr lang="en-US" altLang="zh-TW" sz="2800" b="1" dirty="0">
                <a:ea typeface="標楷體" pitchFamily="65" charset="-120"/>
              </a:rPr>
              <a:t>Build their professional reputations on the merits of their </a:t>
            </a:r>
            <a:r>
              <a:rPr lang="en-US" altLang="zh-TW" sz="2800" b="1" dirty="0" smtClean="0">
                <a:ea typeface="標楷體" pitchFamily="65" charset="-120"/>
              </a:rPr>
              <a:t>services</a:t>
            </a:r>
            <a:r>
              <a:rPr lang="en-US" altLang="zh-TW" sz="2800" b="1" dirty="0">
                <a:ea typeface="標楷體" pitchFamily="65" charset="-120"/>
              </a:rPr>
              <a:t>.</a:t>
            </a:r>
          </a:p>
          <a:p>
            <a:pPr marL="265113"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None/>
            </a:pPr>
            <a:r>
              <a:rPr lang="zh-TW" altLang="en-US" sz="2800" b="1" dirty="0">
                <a:ea typeface="標楷體" pitchFamily="65" charset="-120"/>
              </a:rPr>
              <a:t>以服務或工作價值，建立專業聲譽</a:t>
            </a:r>
            <a:r>
              <a:rPr lang="zh-TW" altLang="en-US" sz="2800" b="1" dirty="0" smtClean="0">
                <a:ea typeface="標楷體" pitchFamily="65" charset="-120"/>
              </a:rPr>
              <a:t>。</a:t>
            </a:r>
            <a:endParaRPr lang="zh-TW" altLang="en-US" sz="2800" b="1" dirty="0">
              <a:ea typeface="標楷體" pitchFamily="65" charset="-120"/>
            </a:endParaRPr>
          </a:p>
          <a:p>
            <a:pPr marL="265113" indent="-265113">
              <a:buClr>
                <a:srgbClr val="800000"/>
              </a:buClr>
              <a:buSzPct val="60000"/>
              <a:buFont typeface="Wingdings" pitchFamily="2" charset="2"/>
              <a:buChar char="l"/>
            </a:pPr>
            <a:r>
              <a:rPr lang="en-US" altLang="zh-TW" sz="2800" b="1" dirty="0">
                <a:ea typeface="標楷體" pitchFamily="65" charset="-120"/>
              </a:rPr>
              <a:t>Continue their professional development throughout their </a:t>
            </a:r>
            <a:r>
              <a:rPr lang="en-US" altLang="zh-TW" sz="2800" b="1" dirty="0" smtClean="0">
                <a:ea typeface="標楷體" pitchFamily="65" charset="-120"/>
              </a:rPr>
              <a:t>careers</a:t>
            </a:r>
            <a:r>
              <a:rPr lang="en-US" altLang="zh-TW" sz="2800" b="1" dirty="0">
                <a:ea typeface="標楷體" pitchFamily="65" charset="-120"/>
              </a:rPr>
              <a:t>, and provide opportunities for the </a:t>
            </a:r>
            <a:r>
              <a:rPr lang="en-US" altLang="zh-TW" sz="2800" b="1" dirty="0" smtClean="0">
                <a:ea typeface="標楷體" pitchFamily="65" charset="-120"/>
              </a:rPr>
              <a:t>professional development </a:t>
            </a:r>
            <a:r>
              <a:rPr lang="en-US" altLang="zh-TW" sz="2800" b="1" dirty="0">
                <a:ea typeface="標楷體" pitchFamily="65" charset="-120"/>
              </a:rPr>
              <a:t>of those under their supervision</a:t>
            </a:r>
            <a:r>
              <a:rPr lang="en-US" altLang="zh-TW" sz="3600" b="1" dirty="0"/>
              <a:t>.</a:t>
            </a:r>
          </a:p>
          <a:p>
            <a:pPr marL="265113"/>
            <a:r>
              <a:rPr lang="zh-TW" altLang="en-US" sz="2800" b="1" dirty="0">
                <a:ea typeface="標楷體" pitchFamily="65" charset="-120"/>
              </a:rPr>
              <a:t>在職業生涯中，持續追求成長，並提供部屬職業成長的機會。</a:t>
            </a:r>
          </a:p>
          <a:p>
            <a:pPr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None/>
            </a:pPr>
            <a:endParaRPr lang="zh-TW" altLang="en-US" sz="2800" dirty="0">
              <a:ea typeface="標楷體" pitchFamily="65" charset="-120"/>
            </a:endParaRPr>
          </a:p>
          <a:p>
            <a:pPr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None/>
            </a:pPr>
            <a:endParaRPr lang="en-US" altLang="zh-TW" sz="2800" dirty="0">
              <a:ea typeface="標楷體" pitchFamily="65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32724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D5A716-C71B-4EA2-9050-AA8F9C6A6232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1094658" name="Rectangle 4"/>
          <p:cNvSpPr txBox="1">
            <a:spLocks noGrp="1" noChangeArrowheads="1"/>
          </p:cNvSpPr>
          <p:nvPr/>
        </p:nvSpPr>
        <p:spPr bwMode="auto">
          <a:xfrm>
            <a:off x="36195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0" hangingPunct="0"/>
            <a:fld id="{C50D5789-DB1D-4F73-BF98-E13DB4F1F6FF}" type="slidenum">
              <a:rPr lang="en-US" altLang="zh-TW" sz="1400" b="0">
                <a:latin typeface="細明體" pitchFamily="49" charset="-120"/>
                <a:ea typeface="細明體" pitchFamily="49" charset="-120"/>
              </a:rPr>
              <a:pPr algn="ctr" eaLnBrk="0" hangingPunct="0"/>
              <a:t>9</a:t>
            </a:fld>
            <a:endParaRPr lang="en-US" altLang="zh-TW" sz="1400" b="0">
              <a:latin typeface="細明體" pitchFamily="49" charset="-120"/>
              <a:ea typeface="細明體" pitchFamily="49" charset="-120"/>
            </a:endParaRPr>
          </a:p>
        </p:txBody>
      </p:sp>
      <p:sp>
        <p:nvSpPr>
          <p:cNvPr id="585730" name="Rectangle 2"/>
          <p:cNvSpPr>
            <a:spLocks noChangeArrowheads="1"/>
          </p:cNvSpPr>
          <p:nvPr/>
        </p:nvSpPr>
        <p:spPr bwMode="auto">
          <a:xfrm>
            <a:off x="1049215" y="908720"/>
            <a:ext cx="6664569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/>
            <a:r>
              <a:rPr lang="zh-TW" altLang="en-US" sz="3600" b="1" dirty="0">
                <a:ea typeface="標楷體" pitchFamily="65" charset="-120"/>
              </a:rPr>
              <a:t>工程倫理規範 </a:t>
            </a:r>
            <a:r>
              <a:rPr lang="en-US" altLang="zh-TW" sz="1800" b="1" dirty="0">
                <a:ea typeface="標楷體" pitchFamily="65" charset="-120"/>
              </a:rPr>
              <a:t>(</a:t>
            </a:r>
            <a:r>
              <a:rPr lang="zh-TW" altLang="en-US" sz="1800" b="1" dirty="0">
                <a:ea typeface="標楷體" pitchFamily="65" charset="-120"/>
              </a:rPr>
              <a:t>續</a:t>
            </a:r>
            <a:r>
              <a:rPr lang="en-US" altLang="zh-TW" sz="1800" b="1" dirty="0">
                <a:ea typeface="標楷體" pitchFamily="65" charset="-120"/>
              </a:rPr>
              <a:t>6)</a:t>
            </a:r>
          </a:p>
        </p:txBody>
      </p:sp>
      <p:sp>
        <p:nvSpPr>
          <p:cNvPr id="1094660" name="Rectangle 3"/>
          <p:cNvSpPr>
            <a:spLocks noChangeArrowheads="1"/>
          </p:cNvSpPr>
          <p:nvPr/>
        </p:nvSpPr>
        <p:spPr bwMode="auto">
          <a:xfrm>
            <a:off x="539551" y="1772816"/>
            <a:ext cx="8491997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827088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235075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43063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marL="182563" indent="-182563"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Char char="l"/>
            </a:pPr>
            <a:r>
              <a:rPr lang="en-US" altLang="zh-TW" sz="2800" b="1" dirty="0">
                <a:ea typeface="標楷體" pitchFamily="65" charset="-120"/>
              </a:rPr>
              <a:t>Never tolerate harassment. </a:t>
            </a:r>
          </a:p>
          <a:p>
            <a:pPr marL="182563"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None/>
            </a:pPr>
            <a:r>
              <a:rPr lang="zh-TW" altLang="en-US" sz="2800" b="1" dirty="0">
                <a:ea typeface="標楷體" pitchFamily="65" charset="-120"/>
              </a:rPr>
              <a:t>絕不寬恕任何騷擾行為。</a:t>
            </a:r>
          </a:p>
          <a:p>
            <a:pPr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None/>
            </a:pPr>
            <a:endParaRPr lang="zh-TW" altLang="en-US" sz="3600" b="1" dirty="0">
              <a:solidFill>
                <a:srgbClr val="333399"/>
              </a:solidFill>
            </a:endParaRPr>
          </a:p>
          <a:p>
            <a:pPr marL="182563" indent="-182563">
              <a:buClr>
                <a:srgbClr val="800000"/>
              </a:buClr>
              <a:buSzPct val="60000"/>
              <a:buFont typeface="Wingdings" pitchFamily="2" charset="2"/>
              <a:buChar char="l"/>
            </a:pPr>
            <a:r>
              <a:rPr lang="en-US" altLang="zh-TW" sz="2800" b="1" dirty="0">
                <a:ea typeface="標楷體" pitchFamily="65" charset="-120"/>
              </a:rPr>
              <a:t>Conduct themselves in a fair, honorable and respectful </a:t>
            </a:r>
            <a:r>
              <a:rPr lang="en-US" altLang="zh-TW" sz="2800" b="1" dirty="0" smtClean="0">
                <a:ea typeface="標楷體" pitchFamily="65" charset="-120"/>
              </a:rPr>
              <a:t>manner</a:t>
            </a:r>
            <a:r>
              <a:rPr lang="en-US" altLang="zh-TW" sz="2800" b="1" dirty="0">
                <a:ea typeface="標楷體" pitchFamily="65" charset="-120"/>
              </a:rPr>
              <a:t>.</a:t>
            </a:r>
          </a:p>
          <a:p>
            <a:pPr marL="182563" eaLnBrk="0" hangingPunct="0">
              <a:spcBef>
                <a:spcPct val="15000"/>
              </a:spcBef>
              <a:spcAft>
                <a:spcPct val="15000"/>
              </a:spcAft>
              <a:buClr>
                <a:srgbClr val="993366"/>
              </a:buClr>
              <a:buSzPct val="60000"/>
              <a:buFont typeface="Wingdings" pitchFamily="2" charset="2"/>
              <a:buNone/>
            </a:pPr>
            <a:r>
              <a:rPr lang="zh-TW" altLang="en-US" sz="2800" b="1" dirty="0">
                <a:ea typeface="標楷體" pitchFamily="65" charset="-120"/>
              </a:rPr>
              <a:t>以公平、值得尊敬和恭敬的態度待人處事</a:t>
            </a:r>
            <a:r>
              <a:rPr lang="zh-TW" altLang="en-US" sz="2800" b="1" dirty="0" smtClean="0">
                <a:ea typeface="標楷體" pitchFamily="65" charset="-120"/>
              </a:rPr>
              <a:t>。</a:t>
            </a:r>
            <a:endParaRPr lang="zh-TW" altLang="en-US" sz="2800" b="1" dirty="0">
              <a:ea typeface="標楷體" pitchFamily="65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44241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TITLE_TAG" val="製程安全管理(續2)"/>
  <p:tag name="ARTICULATE_SLIDE_PAUS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TITLE_TAG" val="製程安全管理(續2)"/>
  <p:tag name="ARTICULATE_SLIDE_PAUSE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TITLE_TAG" val="製程安全管理(續2)"/>
  <p:tag name="ARTICULATE_SLIDE_PAUSE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TITLE_TAG" val="製程安全管理(續2)"/>
  <p:tag name="ARTICULATE_SLIDE_PAUSE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TITLE_TAG" val="製程安全管理(續2)"/>
  <p:tag name="ARTICULATE_SLIDE_PAUSE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TITLE_TAG" val="製程安全管理(續2)"/>
  <p:tag name="ARTICULATE_SLIDE_PAUSE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TITLE_TAG" val="製程安全管理(續2)"/>
  <p:tag name="ARTICULATE_SLIDE_PAUSE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TITLE_TAG" val="製程安全管理(續2)"/>
  <p:tag name="ARTICULATE_SLIDE_PAUSE" val="0"/>
</p:tagLst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584</Words>
  <Application>Microsoft Office PowerPoint</Application>
  <PresentationFormat>如螢幕大小 (4:3)</PresentationFormat>
  <Paragraphs>70</Paragraphs>
  <Slides>9</Slides>
  <Notes>8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9</vt:i4>
      </vt:variant>
    </vt:vector>
  </HeadingPairs>
  <TitlesOfParts>
    <vt:vector size="11" baseType="lpstr">
      <vt:lpstr>Office 佈景主題</vt:lpstr>
      <vt:lpstr>自訂設計</vt:lpstr>
      <vt:lpstr>AIChE工程倫理規範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user</dc:creator>
  <cp:lastModifiedBy>admin</cp:lastModifiedBy>
  <cp:revision>13</cp:revision>
  <dcterms:created xsi:type="dcterms:W3CDTF">2014-03-12T03:54:03Z</dcterms:created>
  <dcterms:modified xsi:type="dcterms:W3CDTF">2014-05-07T00:34:53Z</dcterms:modified>
</cp:coreProperties>
</file>